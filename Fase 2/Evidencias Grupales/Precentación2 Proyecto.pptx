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Ultra-Bold" charset="1" panose="00000900000000000000"/>
      <p:regular r:id="rId17"/>
    </p:embeddedFont>
    <p:embeddedFont>
      <p:font typeface="Arial Bold" charset="1" panose="020B0704020202020204"/>
      <p:regular r:id="rId18"/>
    </p:embeddedFont>
    <p:embeddedFont>
      <p:font typeface="Montserrat Bold" charset="1" panose="00000800000000000000"/>
      <p:regular r:id="rId19"/>
    </p:embeddedFont>
    <p:embeddedFont>
      <p:font typeface="Montserrat Semi-Bold" charset="1" panose="000007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-622527" y="9729787"/>
            <a:ext cx="19612250" cy="0"/>
          </a:xfrm>
          <a:prstGeom prst="line">
            <a:avLst/>
          </a:prstGeom>
          <a:ln cap="flat" w="28575">
            <a:solidFill>
              <a:srgbClr val="309A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622527" y="559037"/>
            <a:ext cx="19388227" cy="0"/>
          </a:xfrm>
          <a:prstGeom prst="line">
            <a:avLst/>
          </a:prstGeom>
          <a:ln cap="flat" w="28575">
            <a:solidFill>
              <a:srgbClr val="309A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0" y="3713865"/>
            <a:ext cx="18288000" cy="223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36"/>
              </a:lnSpc>
            </a:pPr>
            <a:r>
              <a:rPr lang="en-US" b="true" sz="15341" spc="2178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KINECONNECT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9252" y="5945754"/>
            <a:ext cx="15129495" cy="63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8"/>
              </a:lnSpc>
              <a:spcBef>
                <a:spcPct val="0"/>
              </a:spcBef>
            </a:pPr>
            <a:r>
              <a:rPr lang="en-US" b="true" sz="414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INTEGRANTES: Benjamín Celis · Nicolás Mella · Matías Sáez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-1015348" y="5665660"/>
            <a:ext cx="19388227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-550114" y="9595474"/>
            <a:ext cx="24740282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550114" y="1241484"/>
            <a:ext cx="19388227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10" y="76200"/>
            <a:ext cx="18288000" cy="95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1"/>
              </a:lnSpc>
            </a:pPr>
            <a:r>
              <a:rPr lang="en-US" b="true" sz="6193" spc="6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PROBLEMÁTICA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0624" y="2644776"/>
            <a:ext cx="5705654" cy="5502149"/>
            <a:chOff x="0" y="0"/>
            <a:chExt cx="845146" cy="8150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5146" cy="815002"/>
            </a:xfrm>
            <a:custGeom>
              <a:avLst/>
              <a:gdLst/>
              <a:ahLst/>
              <a:cxnLst/>
              <a:rect r="r" b="b" t="t" l="l"/>
              <a:pathLst>
                <a:path h="815002" w="845146">
                  <a:moveTo>
                    <a:pt x="122139" y="0"/>
                  </a:moveTo>
                  <a:lnTo>
                    <a:pt x="723007" y="0"/>
                  </a:lnTo>
                  <a:cubicBezTo>
                    <a:pt x="755400" y="0"/>
                    <a:pt x="786467" y="12868"/>
                    <a:pt x="809373" y="35774"/>
                  </a:cubicBezTo>
                  <a:cubicBezTo>
                    <a:pt x="832278" y="58679"/>
                    <a:pt x="845146" y="89746"/>
                    <a:pt x="845146" y="122139"/>
                  </a:cubicBezTo>
                  <a:lnTo>
                    <a:pt x="845146" y="692863"/>
                  </a:lnTo>
                  <a:cubicBezTo>
                    <a:pt x="845146" y="725256"/>
                    <a:pt x="832278" y="756323"/>
                    <a:pt x="809373" y="779229"/>
                  </a:cubicBezTo>
                  <a:cubicBezTo>
                    <a:pt x="786467" y="802134"/>
                    <a:pt x="755400" y="815002"/>
                    <a:pt x="723007" y="815002"/>
                  </a:cubicBezTo>
                  <a:lnTo>
                    <a:pt x="122139" y="815002"/>
                  </a:lnTo>
                  <a:cubicBezTo>
                    <a:pt x="89746" y="815002"/>
                    <a:pt x="58679" y="802134"/>
                    <a:pt x="35774" y="779229"/>
                  </a:cubicBezTo>
                  <a:cubicBezTo>
                    <a:pt x="12868" y="756323"/>
                    <a:pt x="0" y="725256"/>
                    <a:pt x="0" y="692863"/>
                  </a:cubicBezTo>
                  <a:lnTo>
                    <a:pt x="0" y="122139"/>
                  </a:lnTo>
                  <a:cubicBezTo>
                    <a:pt x="0" y="89746"/>
                    <a:pt x="12868" y="58679"/>
                    <a:pt x="35774" y="35774"/>
                  </a:cubicBezTo>
                  <a:cubicBezTo>
                    <a:pt x="58679" y="12868"/>
                    <a:pt x="89746" y="0"/>
                    <a:pt x="122139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45146" cy="853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97058" y="2919026"/>
            <a:ext cx="527278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  <a:spcBef>
                <a:spcPct val="0"/>
              </a:spcBef>
            </a:pPr>
            <a:r>
              <a:rPr lang="en-US" b="true" sz="3191" spc="341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SOPORTE ESTÁTICO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0341" y="3978235"/>
            <a:ext cx="5606220" cy="3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b="true" sz="2859" spc="30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LAS PAUTAS EN PAPEL NO MUESTRAN MOVIMIENTO, POSTURA DINÁMICA NI DESCANSOS FISIOLÓGICOS; ESTO PUEDE DIFICULTAR LA EJECUCIÓN CORRECTA.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241456" y="2644776"/>
            <a:ext cx="5705654" cy="5502149"/>
            <a:chOff x="0" y="0"/>
            <a:chExt cx="845146" cy="815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5146" cy="815002"/>
            </a:xfrm>
            <a:custGeom>
              <a:avLst/>
              <a:gdLst/>
              <a:ahLst/>
              <a:cxnLst/>
              <a:rect r="r" b="b" t="t" l="l"/>
              <a:pathLst>
                <a:path h="815002" w="845146">
                  <a:moveTo>
                    <a:pt x="122139" y="0"/>
                  </a:moveTo>
                  <a:lnTo>
                    <a:pt x="723007" y="0"/>
                  </a:lnTo>
                  <a:cubicBezTo>
                    <a:pt x="755400" y="0"/>
                    <a:pt x="786467" y="12868"/>
                    <a:pt x="809373" y="35774"/>
                  </a:cubicBezTo>
                  <a:cubicBezTo>
                    <a:pt x="832278" y="58679"/>
                    <a:pt x="845146" y="89746"/>
                    <a:pt x="845146" y="122139"/>
                  </a:cubicBezTo>
                  <a:lnTo>
                    <a:pt x="845146" y="692863"/>
                  </a:lnTo>
                  <a:cubicBezTo>
                    <a:pt x="845146" y="725256"/>
                    <a:pt x="832278" y="756323"/>
                    <a:pt x="809373" y="779229"/>
                  </a:cubicBezTo>
                  <a:cubicBezTo>
                    <a:pt x="786467" y="802134"/>
                    <a:pt x="755400" y="815002"/>
                    <a:pt x="723007" y="815002"/>
                  </a:cubicBezTo>
                  <a:lnTo>
                    <a:pt x="122139" y="815002"/>
                  </a:lnTo>
                  <a:cubicBezTo>
                    <a:pt x="89746" y="815002"/>
                    <a:pt x="58679" y="802134"/>
                    <a:pt x="35774" y="779229"/>
                  </a:cubicBezTo>
                  <a:cubicBezTo>
                    <a:pt x="12868" y="756323"/>
                    <a:pt x="0" y="725256"/>
                    <a:pt x="0" y="692863"/>
                  </a:cubicBezTo>
                  <a:lnTo>
                    <a:pt x="0" y="122139"/>
                  </a:lnTo>
                  <a:cubicBezTo>
                    <a:pt x="0" y="89746"/>
                    <a:pt x="12868" y="58679"/>
                    <a:pt x="35774" y="35774"/>
                  </a:cubicBezTo>
                  <a:cubicBezTo>
                    <a:pt x="58679" y="12868"/>
                    <a:pt x="89746" y="0"/>
                    <a:pt x="122139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45146" cy="853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507607" y="2919026"/>
            <a:ext cx="527278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  <a:spcBef>
                <a:spcPct val="0"/>
              </a:spcBef>
            </a:pPr>
            <a:r>
              <a:rPr lang="en-US" b="true" sz="3191" spc="341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ADHERENCIA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40890" y="3718311"/>
            <a:ext cx="5606220" cy="348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859" spc="30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LA FALTA DE GUÍA Y ACOMPAÑAMIENTO CONTINUO PUEDE CONTRIBUIR A QUE EL PACIENTE ABANDONE EL TRATAMIENTO NO SUPERVISADO.</a:t>
            </a:r>
          </a:p>
          <a:p>
            <a:pPr algn="ctr">
              <a:lnSpc>
                <a:spcPts val="3431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2518610" y="2644776"/>
            <a:ext cx="5705654" cy="5502149"/>
            <a:chOff x="0" y="0"/>
            <a:chExt cx="845146" cy="8150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5146" cy="815002"/>
            </a:xfrm>
            <a:custGeom>
              <a:avLst/>
              <a:gdLst/>
              <a:ahLst/>
              <a:cxnLst/>
              <a:rect r="r" b="b" t="t" l="l"/>
              <a:pathLst>
                <a:path h="815002" w="845146">
                  <a:moveTo>
                    <a:pt x="122139" y="0"/>
                  </a:moveTo>
                  <a:lnTo>
                    <a:pt x="723007" y="0"/>
                  </a:lnTo>
                  <a:cubicBezTo>
                    <a:pt x="755400" y="0"/>
                    <a:pt x="786467" y="12868"/>
                    <a:pt x="809373" y="35774"/>
                  </a:cubicBezTo>
                  <a:cubicBezTo>
                    <a:pt x="832278" y="58679"/>
                    <a:pt x="845146" y="89746"/>
                    <a:pt x="845146" y="122139"/>
                  </a:cubicBezTo>
                  <a:lnTo>
                    <a:pt x="845146" y="692863"/>
                  </a:lnTo>
                  <a:cubicBezTo>
                    <a:pt x="845146" y="725256"/>
                    <a:pt x="832278" y="756323"/>
                    <a:pt x="809373" y="779229"/>
                  </a:cubicBezTo>
                  <a:cubicBezTo>
                    <a:pt x="786467" y="802134"/>
                    <a:pt x="755400" y="815002"/>
                    <a:pt x="723007" y="815002"/>
                  </a:cubicBezTo>
                  <a:lnTo>
                    <a:pt x="122139" y="815002"/>
                  </a:lnTo>
                  <a:cubicBezTo>
                    <a:pt x="89746" y="815002"/>
                    <a:pt x="58679" y="802134"/>
                    <a:pt x="35774" y="779229"/>
                  </a:cubicBezTo>
                  <a:cubicBezTo>
                    <a:pt x="12868" y="756323"/>
                    <a:pt x="0" y="725256"/>
                    <a:pt x="0" y="692863"/>
                  </a:cubicBezTo>
                  <a:lnTo>
                    <a:pt x="0" y="122139"/>
                  </a:lnTo>
                  <a:cubicBezTo>
                    <a:pt x="0" y="89746"/>
                    <a:pt x="12868" y="58679"/>
                    <a:pt x="35774" y="35774"/>
                  </a:cubicBezTo>
                  <a:cubicBezTo>
                    <a:pt x="58679" y="12868"/>
                    <a:pt x="89746" y="0"/>
                    <a:pt x="122139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45146" cy="853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828156" y="2919026"/>
            <a:ext cx="527278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  <a:spcBef>
                <a:spcPct val="0"/>
              </a:spcBef>
            </a:pPr>
            <a:r>
              <a:rPr lang="en-US" b="true" sz="3191" spc="341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TRAZABILIDAD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68327" y="4048938"/>
            <a:ext cx="5606220" cy="305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859" spc="30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EL PROFESIONAL CARECE DE MÉTRICAS OBJETIVAS SOBRE CUMPLIMIENTO Y DOLOR REPORTADO EN EN EL HOGAR.</a:t>
            </a:r>
          </a:p>
          <a:p>
            <a:pPr algn="ctr">
              <a:lnSpc>
                <a:spcPts val="34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622527" y="1148219"/>
            <a:ext cx="19388227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1409027" y="9272588"/>
            <a:ext cx="24740282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10" y="76200"/>
            <a:ext cx="182880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1"/>
              </a:lnSpc>
            </a:pPr>
            <a:r>
              <a:rPr lang="en-US" b="true" sz="6193" spc="6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7609" y="2782801"/>
            <a:ext cx="17073801" cy="96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3"/>
              </a:lnSpc>
              <a:spcBef>
                <a:spcPct val="0"/>
              </a:spcBef>
            </a:pPr>
            <a:r>
              <a:rPr lang="en-US" b="true" sz="3161" spc="33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DESARROLLAR UNA PLATAFORMA WEB Y MÓVIL QUE APOYE LA GESTIÓN Y EL SEGUIMIENTO INTERACTIVO DE TERAPIAS KINÉSICAS.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71765" y="1613350"/>
            <a:ext cx="7630694" cy="731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8"/>
              </a:lnSpc>
              <a:spcBef>
                <a:spcPct val="0"/>
              </a:spcBef>
            </a:pPr>
            <a:r>
              <a:rPr lang="en-US" b="true" sz="4865" spc="520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GENERAL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74059" y="4419674"/>
            <a:ext cx="9539883" cy="72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3"/>
              </a:lnSpc>
              <a:spcBef>
                <a:spcPct val="0"/>
              </a:spcBef>
            </a:pPr>
            <a:r>
              <a:rPr lang="en-US" b="true" sz="4869" spc="5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ESPECÍFICOS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4713" y="5549786"/>
            <a:ext cx="5272509" cy="3666982"/>
            <a:chOff x="0" y="0"/>
            <a:chExt cx="780987" cy="543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987" cy="543169"/>
            </a:xfrm>
            <a:custGeom>
              <a:avLst/>
              <a:gdLst/>
              <a:ahLst/>
              <a:cxnLst/>
              <a:rect r="r" b="b" t="t" l="l"/>
              <a:pathLst>
                <a:path h="543169" w="780987">
                  <a:moveTo>
                    <a:pt x="132173" y="0"/>
                  </a:moveTo>
                  <a:lnTo>
                    <a:pt x="648814" y="0"/>
                  </a:lnTo>
                  <a:cubicBezTo>
                    <a:pt x="683868" y="0"/>
                    <a:pt x="717487" y="13925"/>
                    <a:pt x="742274" y="38713"/>
                  </a:cubicBezTo>
                  <a:cubicBezTo>
                    <a:pt x="767062" y="63500"/>
                    <a:pt x="780987" y="97119"/>
                    <a:pt x="780987" y="132173"/>
                  </a:cubicBezTo>
                  <a:lnTo>
                    <a:pt x="780987" y="410996"/>
                  </a:lnTo>
                  <a:cubicBezTo>
                    <a:pt x="780987" y="446051"/>
                    <a:pt x="767062" y="479670"/>
                    <a:pt x="742274" y="504457"/>
                  </a:cubicBezTo>
                  <a:cubicBezTo>
                    <a:pt x="717487" y="529244"/>
                    <a:pt x="683868" y="543169"/>
                    <a:pt x="648814" y="543169"/>
                  </a:cubicBezTo>
                  <a:lnTo>
                    <a:pt x="132173" y="543169"/>
                  </a:lnTo>
                  <a:cubicBezTo>
                    <a:pt x="97119" y="543169"/>
                    <a:pt x="63500" y="529244"/>
                    <a:pt x="38713" y="504457"/>
                  </a:cubicBezTo>
                  <a:cubicBezTo>
                    <a:pt x="13925" y="479670"/>
                    <a:pt x="0" y="446051"/>
                    <a:pt x="0" y="410996"/>
                  </a:cubicBezTo>
                  <a:lnTo>
                    <a:pt x="0" y="132173"/>
                  </a:lnTo>
                  <a:cubicBezTo>
                    <a:pt x="0" y="97119"/>
                    <a:pt x="13925" y="63500"/>
                    <a:pt x="38713" y="38713"/>
                  </a:cubicBezTo>
                  <a:cubicBezTo>
                    <a:pt x="63500" y="13925"/>
                    <a:pt x="97119" y="0"/>
                    <a:pt x="132173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80987" cy="581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08577" y="5890040"/>
            <a:ext cx="3964781" cy="35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  <a:spcBef>
                <a:spcPct val="0"/>
              </a:spcBef>
            </a:pPr>
            <a:r>
              <a:rPr lang="en-US" b="true" sz="2312" spc="24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MODELAR LOS DATOS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91116" y="5549786"/>
            <a:ext cx="5272509" cy="3666982"/>
            <a:chOff x="0" y="0"/>
            <a:chExt cx="780987" cy="5431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987" cy="543169"/>
            </a:xfrm>
            <a:custGeom>
              <a:avLst/>
              <a:gdLst/>
              <a:ahLst/>
              <a:cxnLst/>
              <a:rect r="r" b="b" t="t" l="l"/>
              <a:pathLst>
                <a:path h="543169" w="780987">
                  <a:moveTo>
                    <a:pt x="132173" y="0"/>
                  </a:moveTo>
                  <a:lnTo>
                    <a:pt x="648814" y="0"/>
                  </a:lnTo>
                  <a:cubicBezTo>
                    <a:pt x="683868" y="0"/>
                    <a:pt x="717487" y="13925"/>
                    <a:pt x="742274" y="38713"/>
                  </a:cubicBezTo>
                  <a:cubicBezTo>
                    <a:pt x="767062" y="63500"/>
                    <a:pt x="780987" y="97119"/>
                    <a:pt x="780987" y="132173"/>
                  </a:cubicBezTo>
                  <a:lnTo>
                    <a:pt x="780987" y="410996"/>
                  </a:lnTo>
                  <a:cubicBezTo>
                    <a:pt x="780987" y="446051"/>
                    <a:pt x="767062" y="479670"/>
                    <a:pt x="742274" y="504457"/>
                  </a:cubicBezTo>
                  <a:cubicBezTo>
                    <a:pt x="717487" y="529244"/>
                    <a:pt x="683868" y="543169"/>
                    <a:pt x="648814" y="543169"/>
                  </a:cubicBezTo>
                  <a:lnTo>
                    <a:pt x="132173" y="543169"/>
                  </a:lnTo>
                  <a:cubicBezTo>
                    <a:pt x="97119" y="543169"/>
                    <a:pt x="63500" y="529244"/>
                    <a:pt x="38713" y="504457"/>
                  </a:cubicBezTo>
                  <a:cubicBezTo>
                    <a:pt x="13925" y="479670"/>
                    <a:pt x="0" y="446051"/>
                    <a:pt x="0" y="410996"/>
                  </a:cubicBezTo>
                  <a:lnTo>
                    <a:pt x="0" y="132173"/>
                  </a:lnTo>
                  <a:cubicBezTo>
                    <a:pt x="0" y="97119"/>
                    <a:pt x="13925" y="63500"/>
                    <a:pt x="38713" y="38713"/>
                  </a:cubicBezTo>
                  <a:cubicBezTo>
                    <a:pt x="63500" y="13925"/>
                    <a:pt x="97119" y="0"/>
                    <a:pt x="132173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80987" cy="581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22915" y="5469996"/>
            <a:ext cx="5272509" cy="3788304"/>
            <a:chOff x="0" y="0"/>
            <a:chExt cx="780987" cy="561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0987" cy="561140"/>
            </a:xfrm>
            <a:custGeom>
              <a:avLst/>
              <a:gdLst/>
              <a:ahLst/>
              <a:cxnLst/>
              <a:rect r="r" b="b" t="t" l="l"/>
              <a:pathLst>
                <a:path h="561140" w="780987">
                  <a:moveTo>
                    <a:pt x="132173" y="0"/>
                  </a:moveTo>
                  <a:lnTo>
                    <a:pt x="648814" y="0"/>
                  </a:lnTo>
                  <a:cubicBezTo>
                    <a:pt x="683868" y="0"/>
                    <a:pt x="717487" y="13925"/>
                    <a:pt x="742274" y="38713"/>
                  </a:cubicBezTo>
                  <a:cubicBezTo>
                    <a:pt x="767062" y="63500"/>
                    <a:pt x="780987" y="97119"/>
                    <a:pt x="780987" y="132173"/>
                  </a:cubicBezTo>
                  <a:lnTo>
                    <a:pt x="780987" y="428967"/>
                  </a:lnTo>
                  <a:cubicBezTo>
                    <a:pt x="780987" y="464021"/>
                    <a:pt x="767062" y="497640"/>
                    <a:pt x="742274" y="522428"/>
                  </a:cubicBezTo>
                  <a:cubicBezTo>
                    <a:pt x="717487" y="547215"/>
                    <a:pt x="683868" y="561140"/>
                    <a:pt x="648814" y="561140"/>
                  </a:cubicBezTo>
                  <a:lnTo>
                    <a:pt x="132173" y="561140"/>
                  </a:lnTo>
                  <a:cubicBezTo>
                    <a:pt x="97119" y="561140"/>
                    <a:pt x="63500" y="547215"/>
                    <a:pt x="38713" y="522428"/>
                  </a:cubicBezTo>
                  <a:cubicBezTo>
                    <a:pt x="13925" y="497640"/>
                    <a:pt x="0" y="464021"/>
                    <a:pt x="0" y="428967"/>
                  </a:cubicBezTo>
                  <a:lnTo>
                    <a:pt x="0" y="132173"/>
                  </a:lnTo>
                  <a:cubicBezTo>
                    <a:pt x="0" y="97119"/>
                    <a:pt x="13925" y="63500"/>
                    <a:pt x="38713" y="38713"/>
                  </a:cubicBezTo>
                  <a:cubicBezTo>
                    <a:pt x="63500" y="13925"/>
                    <a:pt x="97119" y="0"/>
                    <a:pt x="132173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80987" cy="599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48407" y="6766265"/>
            <a:ext cx="4693383" cy="132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b="true" sz="2552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Usuarios, ejercicios, pautas y registros de feedback en una base relacional.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12478" y="6766265"/>
            <a:ext cx="4693383" cy="132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b="true" sz="2552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Desarrollar APIs para administrar la información e integrar los componentes.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79668" y="5890040"/>
            <a:ext cx="4159002" cy="35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  <a:spcBef>
                <a:spcPct val="0"/>
              </a:spcBef>
            </a:pPr>
            <a:r>
              <a:rPr lang="en-US" b="true" sz="2312" spc="247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CONSTRUIR SERVICIOS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00542" y="5909015"/>
            <a:ext cx="485365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5"/>
              </a:lnSpc>
              <a:spcBef>
                <a:spcPct val="0"/>
              </a:spcBef>
            </a:pPr>
            <a:r>
              <a:rPr lang="en-US" b="true" sz="2212" spc="236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MÓDULO DE PRESCRIPCIÓN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80679" y="6472867"/>
            <a:ext cx="4693383" cy="177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  <a:spcBef>
                <a:spcPct val="0"/>
              </a:spcBef>
            </a:pPr>
            <a:r>
              <a:rPr lang="en-US" b="true" sz="2552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Construcción e implementación del módulo para la prescripción y ejecución de ejercicios.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550114" y="1014412"/>
            <a:ext cx="19388227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50114" y="10165893"/>
            <a:ext cx="24740282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826622" y="1074856"/>
            <a:ext cx="10635776" cy="9030594"/>
          </a:xfrm>
          <a:custGeom>
            <a:avLst/>
            <a:gdLst/>
            <a:ahLst/>
            <a:cxnLst/>
            <a:rect r="r" b="b" t="t" l="l"/>
            <a:pathLst>
              <a:path h="9030594" w="10635776">
                <a:moveTo>
                  <a:pt x="0" y="0"/>
                </a:moveTo>
                <a:lnTo>
                  <a:pt x="10635776" y="0"/>
                </a:lnTo>
                <a:lnTo>
                  <a:pt x="10635776" y="9030594"/>
                </a:lnTo>
                <a:lnTo>
                  <a:pt x="0" y="9030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0" y="76200"/>
            <a:ext cx="18288000" cy="95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1"/>
              </a:lnSpc>
            </a:pPr>
            <a:r>
              <a:rPr lang="en-US" b="true" sz="6193" spc="6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ARQUITECTURA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223577" y="1486187"/>
            <a:ext cx="19388227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849762"/>
            <a:ext cx="24740282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979311" y="228563"/>
            <a:ext cx="14142013" cy="89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1"/>
              </a:lnSpc>
            </a:pPr>
            <a:r>
              <a:rPr lang="en-US" b="true" sz="5893" spc="63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DE TRABAJO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0791" y="3201011"/>
            <a:ext cx="17179054" cy="97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 spc="34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Organizamos el proyecto en hitos que permiten avanzar, revisar e integrar funcionalidades progresivamente: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093" y="4972587"/>
            <a:ext cx="18125217" cy="251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0998" indent="-450499" lvl="1">
              <a:lnSpc>
                <a:spcPts val="50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173" spc="44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MODELADO DE LA BASE DE DATOS RELACIONAL.</a:t>
            </a:r>
          </a:p>
          <a:p>
            <a:pPr algn="l" marL="900998" indent="-450499" lvl="1">
              <a:lnSpc>
                <a:spcPts val="50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173" spc="44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DESARROLLO DE APIS BASES.</a:t>
            </a:r>
          </a:p>
          <a:p>
            <a:pPr algn="l" marL="900998" indent="-450499" lvl="1">
              <a:lnSpc>
                <a:spcPts val="50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173" spc="44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CONSTRUCCIÓN DEL MÓDULO DE PRESCRIPCIÓN DE EJERCICIOS.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0791" y="8286824"/>
            <a:ext cx="17304438" cy="97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 spc="34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ESTE ENFOQUE CONECTA CADA AVANCE CON LOS OBJETIVOS DEL PROYECTO Y FACILITA LA REVISIÓN CONTINUA DEL TRABAJO.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19377" y="2039156"/>
            <a:ext cx="6512649" cy="623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1"/>
              </a:lnSpc>
              <a:spcBef>
                <a:spcPct val="0"/>
              </a:spcBef>
            </a:pPr>
            <a:r>
              <a:rPr lang="en-US" b="true" sz="4101" spc="438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ÁGIL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550114" y="1042988"/>
            <a:ext cx="19388227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622527" y="9424987"/>
            <a:ext cx="24740282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986890" y="1938472"/>
            <a:ext cx="10027163" cy="2302826"/>
            <a:chOff x="0" y="0"/>
            <a:chExt cx="1409382" cy="3236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9382" cy="323677"/>
            </a:xfrm>
            <a:custGeom>
              <a:avLst/>
              <a:gdLst/>
              <a:ahLst/>
              <a:cxnLst/>
              <a:rect r="r" b="b" t="t" l="l"/>
              <a:pathLst>
                <a:path h="323677" w="1409382">
                  <a:moveTo>
                    <a:pt x="69500" y="0"/>
                  </a:moveTo>
                  <a:lnTo>
                    <a:pt x="1339882" y="0"/>
                  </a:lnTo>
                  <a:cubicBezTo>
                    <a:pt x="1378266" y="0"/>
                    <a:pt x="1409382" y="31116"/>
                    <a:pt x="1409382" y="69500"/>
                  </a:cubicBezTo>
                  <a:lnTo>
                    <a:pt x="1409382" y="254177"/>
                  </a:lnTo>
                  <a:cubicBezTo>
                    <a:pt x="1409382" y="292561"/>
                    <a:pt x="1378266" y="323677"/>
                    <a:pt x="1339882" y="323677"/>
                  </a:cubicBezTo>
                  <a:lnTo>
                    <a:pt x="69500" y="323677"/>
                  </a:lnTo>
                  <a:cubicBezTo>
                    <a:pt x="31116" y="323677"/>
                    <a:pt x="0" y="292561"/>
                    <a:pt x="0" y="254177"/>
                  </a:cubicBezTo>
                  <a:lnTo>
                    <a:pt x="0" y="69500"/>
                  </a:lnTo>
                  <a:cubicBezTo>
                    <a:pt x="0" y="31116"/>
                    <a:pt x="31116" y="0"/>
                    <a:pt x="69500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09382" cy="361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96042" y="1170366"/>
            <a:ext cx="4629228" cy="8087934"/>
          </a:xfrm>
          <a:custGeom>
            <a:avLst/>
            <a:gdLst/>
            <a:ahLst/>
            <a:cxnLst/>
            <a:rect r="r" b="b" t="t" l="l"/>
            <a:pathLst>
              <a:path h="8087934" w="4629228">
                <a:moveTo>
                  <a:pt x="0" y="0"/>
                </a:moveTo>
                <a:lnTo>
                  <a:pt x="4629229" y="0"/>
                </a:lnTo>
                <a:lnTo>
                  <a:pt x="4629229" y="8087934"/>
                </a:lnTo>
                <a:lnTo>
                  <a:pt x="0" y="8087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7294" y="133350"/>
            <a:ext cx="18113413" cy="89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1"/>
              </a:lnSpc>
            </a:pPr>
            <a:r>
              <a:rPr lang="en-US" b="true" sz="5893" spc="63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CASOS DE USO DE UML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03563" y="2020618"/>
            <a:ext cx="5640772" cy="46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2"/>
              </a:lnSpc>
              <a:spcBef>
                <a:spcPct val="0"/>
              </a:spcBef>
            </a:pPr>
            <a:r>
              <a:rPr lang="en-US" b="true" sz="3110" spc="332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ACTORES DEL SISTEMA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564980" y="5717673"/>
            <a:ext cx="10539471" cy="2420483"/>
            <a:chOff x="0" y="0"/>
            <a:chExt cx="1409382" cy="3236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9382" cy="323677"/>
            </a:xfrm>
            <a:custGeom>
              <a:avLst/>
              <a:gdLst/>
              <a:ahLst/>
              <a:cxnLst/>
              <a:rect r="r" b="b" t="t" l="l"/>
              <a:pathLst>
                <a:path h="323677" w="1409382">
                  <a:moveTo>
                    <a:pt x="66121" y="0"/>
                  </a:moveTo>
                  <a:lnTo>
                    <a:pt x="1343260" y="0"/>
                  </a:lnTo>
                  <a:cubicBezTo>
                    <a:pt x="1379778" y="0"/>
                    <a:pt x="1409382" y="29604"/>
                    <a:pt x="1409382" y="66121"/>
                  </a:cubicBezTo>
                  <a:lnTo>
                    <a:pt x="1409382" y="257556"/>
                  </a:lnTo>
                  <a:cubicBezTo>
                    <a:pt x="1409382" y="294073"/>
                    <a:pt x="1379778" y="323677"/>
                    <a:pt x="1343260" y="323677"/>
                  </a:cubicBezTo>
                  <a:lnTo>
                    <a:pt x="66121" y="323677"/>
                  </a:lnTo>
                  <a:cubicBezTo>
                    <a:pt x="29604" y="323677"/>
                    <a:pt x="0" y="294073"/>
                    <a:pt x="0" y="257556"/>
                  </a:cubicBezTo>
                  <a:lnTo>
                    <a:pt x="0" y="66121"/>
                  </a:lnTo>
                  <a:cubicBezTo>
                    <a:pt x="0" y="29604"/>
                    <a:pt x="29604" y="0"/>
                    <a:pt x="66121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09382" cy="361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94536" y="6010607"/>
            <a:ext cx="5673142" cy="49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3"/>
              </a:lnSpc>
              <a:spcBef>
                <a:spcPct val="0"/>
              </a:spcBef>
            </a:pPr>
            <a:r>
              <a:rPr lang="en-US" b="true" sz="3269" spc="34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FLUJOS PRINCIPALES</a:t>
            </a:r>
            <a:r>
              <a:rPr lang="en-US" b="true" sz="3269" spc="34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5158" y="2920623"/>
            <a:ext cx="8850628" cy="59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3"/>
              </a:lnSpc>
              <a:spcBef>
                <a:spcPct val="0"/>
              </a:spcBef>
            </a:pPr>
            <a:r>
              <a:rPr lang="en-US" b="true" sz="353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Kinesiólogo · Paciente · Administrador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29480" y="6763399"/>
            <a:ext cx="10410471" cy="75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Gestiones de inicio de sesión por RUT, prescripción de pautas personalizadas, monitoreo de pacientes y registro del dolor EVA.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622527" y="794953"/>
            <a:ext cx="19388227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622527" y="9424987"/>
            <a:ext cx="24740282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0" y="2114550"/>
            <a:ext cx="18288000" cy="6057900"/>
          </a:xfrm>
          <a:custGeom>
            <a:avLst/>
            <a:gdLst/>
            <a:ahLst/>
            <a:cxnLst/>
            <a:rect r="r" b="b" t="t" l="l"/>
            <a:pathLst>
              <a:path h="6057900" w="18288000">
                <a:moveTo>
                  <a:pt x="0" y="0"/>
                </a:moveTo>
                <a:lnTo>
                  <a:pt x="18288000" y="0"/>
                </a:lnTo>
                <a:lnTo>
                  <a:pt x="18288000" y="6057900"/>
                </a:lnTo>
                <a:lnTo>
                  <a:pt x="0" y="6057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19802" y="179054"/>
            <a:ext cx="9448395" cy="6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1"/>
              </a:lnSpc>
              <a:spcBef>
                <a:spcPct val="0"/>
              </a:spcBef>
            </a:pPr>
            <a:r>
              <a:rPr lang="en-US" b="true" sz="3959" spc="42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SECUENCIA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550114" y="1042988"/>
            <a:ext cx="19388227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622527" y="9424987"/>
            <a:ext cx="24740282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7294" y="142875"/>
            <a:ext cx="18113413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1"/>
              </a:lnSpc>
            </a:pPr>
            <a:r>
              <a:rPr lang="en-US" b="true" sz="4793" spc="5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AVANCE Y RESULTADOS VERIFICABLES</a:t>
            </a:r>
          </a:p>
          <a:p>
            <a:pPr algn="ctr">
              <a:lnSpc>
                <a:spcPts val="5751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474108" y="1581150"/>
            <a:ext cx="7926571" cy="7211932"/>
            <a:chOff x="0" y="0"/>
            <a:chExt cx="1174118" cy="10682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4118" cy="1068263"/>
            </a:xfrm>
            <a:custGeom>
              <a:avLst/>
              <a:gdLst/>
              <a:ahLst/>
              <a:cxnLst/>
              <a:rect r="r" b="b" t="t" l="l"/>
              <a:pathLst>
                <a:path h="1068263" w="1174118">
                  <a:moveTo>
                    <a:pt x="87918" y="0"/>
                  </a:moveTo>
                  <a:lnTo>
                    <a:pt x="1086201" y="0"/>
                  </a:lnTo>
                  <a:cubicBezTo>
                    <a:pt x="1109518" y="0"/>
                    <a:pt x="1131880" y="9263"/>
                    <a:pt x="1148368" y="25750"/>
                  </a:cubicBezTo>
                  <a:cubicBezTo>
                    <a:pt x="1164856" y="42238"/>
                    <a:pt x="1174118" y="64600"/>
                    <a:pt x="1174118" y="87918"/>
                  </a:cubicBezTo>
                  <a:lnTo>
                    <a:pt x="1174118" y="980345"/>
                  </a:lnTo>
                  <a:cubicBezTo>
                    <a:pt x="1174118" y="1003663"/>
                    <a:pt x="1164856" y="1026025"/>
                    <a:pt x="1148368" y="1042513"/>
                  </a:cubicBezTo>
                  <a:cubicBezTo>
                    <a:pt x="1131880" y="1059000"/>
                    <a:pt x="1109518" y="1068263"/>
                    <a:pt x="1086201" y="1068263"/>
                  </a:cubicBezTo>
                  <a:lnTo>
                    <a:pt x="87918" y="1068263"/>
                  </a:lnTo>
                  <a:cubicBezTo>
                    <a:pt x="64600" y="1068263"/>
                    <a:pt x="42238" y="1059000"/>
                    <a:pt x="25750" y="1042513"/>
                  </a:cubicBezTo>
                  <a:cubicBezTo>
                    <a:pt x="9263" y="1026025"/>
                    <a:pt x="0" y="1003663"/>
                    <a:pt x="0" y="980345"/>
                  </a:cubicBezTo>
                  <a:lnTo>
                    <a:pt x="0" y="87918"/>
                  </a:lnTo>
                  <a:cubicBezTo>
                    <a:pt x="0" y="64600"/>
                    <a:pt x="9263" y="42238"/>
                    <a:pt x="25750" y="25750"/>
                  </a:cubicBezTo>
                  <a:cubicBezTo>
                    <a:pt x="42238" y="9263"/>
                    <a:pt x="64600" y="0"/>
                    <a:pt x="87918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74118" cy="110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8559" y="1537534"/>
            <a:ext cx="7926571" cy="7211932"/>
            <a:chOff x="0" y="0"/>
            <a:chExt cx="1174118" cy="10682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4118" cy="1068263"/>
            </a:xfrm>
            <a:custGeom>
              <a:avLst/>
              <a:gdLst/>
              <a:ahLst/>
              <a:cxnLst/>
              <a:rect r="r" b="b" t="t" l="l"/>
              <a:pathLst>
                <a:path h="1068263" w="1174118">
                  <a:moveTo>
                    <a:pt x="87918" y="0"/>
                  </a:moveTo>
                  <a:lnTo>
                    <a:pt x="1086201" y="0"/>
                  </a:lnTo>
                  <a:cubicBezTo>
                    <a:pt x="1109518" y="0"/>
                    <a:pt x="1131880" y="9263"/>
                    <a:pt x="1148368" y="25750"/>
                  </a:cubicBezTo>
                  <a:cubicBezTo>
                    <a:pt x="1164856" y="42238"/>
                    <a:pt x="1174118" y="64600"/>
                    <a:pt x="1174118" y="87918"/>
                  </a:cubicBezTo>
                  <a:lnTo>
                    <a:pt x="1174118" y="980345"/>
                  </a:lnTo>
                  <a:cubicBezTo>
                    <a:pt x="1174118" y="1003663"/>
                    <a:pt x="1164856" y="1026025"/>
                    <a:pt x="1148368" y="1042513"/>
                  </a:cubicBezTo>
                  <a:cubicBezTo>
                    <a:pt x="1131880" y="1059000"/>
                    <a:pt x="1109518" y="1068263"/>
                    <a:pt x="1086201" y="1068263"/>
                  </a:cubicBezTo>
                  <a:lnTo>
                    <a:pt x="87918" y="1068263"/>
                  </a:lnTo>
                  <a:cubicBezTo>
                    <a:pt x="64600" y="1068263"/>
                    <a:pt x="42238" y="1059000"/>
                    <a:pt x="25750" y="1042513"/>
                  </a:cubicBezTo>
                  <a:cubicBezTo>
                    <a:pt x="9263" y="1026025"/>
                    <a:pt x="0" y="1003663"/>
                    <a:pt x="0" y="980345"/>
                  </a:cubicBezTo>
                  <a:lnTo>
                    <a:pt x="0" y="87918"/>
                  </a:lnTo>
                  <a:cubicBezTo>
                    <a:pt x="0" y="64600"/>
                    <a:pt x="9263" y="42238"/>
                    <a:pt x="25750" y="25750"/>
                  </a:cubicBezTo>
                  <a:cubicBezTo>
                    <a:pt x="42238" y="9263"/>
                    <a:pt x="64600" y="0"/>
                    <a:pt x="87918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74118" cy="1106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62744" y="1815316"/>
            <a:ext cx="6158200" cy="130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6"/>
              </a:lnSpc>
              <a:spcBef>
                <a:spcPct val="0"/>
              </a:spcBef>
            </a:pPr>
            <a:r>
              <a:rPr lang="en-US" b="true" sz="4180" spc="447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DECLARADO POR EL EQUIPO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14429" y="1836232"/>
            <a:ext cx="5245930" cy="131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5"/>
              </a:lnSpc>
              <a:spcBef>
                <a:spcPct val="0"/>
              </a:spcBef>
            </a:pPr>
            <a:r>
              <a:rPr lang="en-US" b="true" sz="4270" spc="456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COMPROBADO EN MATERIALES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0059" y="3874561"/>
            <a:ext cx="7343570" cy="343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5"/>
              </a:lnSpc>
              <a:spcBef>
                <a:spcPct val="0"/>
              </a:spcBef>
            </a:pPr>
            <a:r>
              <a:rPr lang="en-US" b="true" sz="3746" spc="4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HITO BACKEND CORE SEMANAS 5–8 COMPLETO: MODELORELACIONAL, APIS BASE Y MÓDULO DE PRESCRIPCIÓN.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85886" y="3934502"/>
            <a:ext cx="7503015" cy="349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2"/>
              </a:lnSpc>
              <a:spcBef>
                <a:spcPct val="0"/>
              </a:spcBef>
            </a:pPr>
            <a:r>
              <a:rPr lang="en-US" b="true" sz="3827" spc="40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DOCUMENTOS DE VISIÓN, BACKLOG, DOD Y DISEÑO UML; REPOSITORIO CON FRONTEND WEB, API DJANGO Y MODELOS POSTGRESQL.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550114" y="1042988"/>
            <a:ext cx="19388227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50114" y="10005303"/>
            <a:ext cx="24740282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7294" y="142875"/>
            <a:ext cx="1811341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1"/>
              </a:lnSpc>
            </a:pPr>
            <a:r>
              <a:rPr lang="en-US" b="true" sz="4793" spc="5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VINCULACIÓN CON EL PERFIL DE EGRESO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01195" y="1196945"/>
            <a:ext cx="5487280" cy="8454375"/>
            <a:chOff x="0" y="0"/>
            <a:chExt cx="812800" cy="12522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52299"/>
            </a:xfrm>
            <a:custGeom>
              <a:avLst/>
              <a:gdLst/>
              <a:ahLst/>
              <a:cxnLst/>
              <a:rect r="r" b="b" t="t" l="l"/>
              <a:pathLst>
                <a:path h="1252299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1125299"/>
                  </a:lnTo>
                  <a:cubicBezTo>
                    <a:pt x="812800" y="1195439"/>
                    <a:pt x="755940" y="1252299"/>
                    <a:pt x="685800" y="1252299"/>
                  </a:cubicBezTo>
                  <a:lnTo>
                    <a:pt x="127000" y="1252299"/>
                  </a:lnTo>
                  <a:cubicBezTo>
                    <a:pt x="93318" y="1252299"/>
                    <a:pt x="61015" y="1238919"/>
                    <a:pt x="37197" y="1215102"/>
                  </a:cubicBezTo>
                  <a:cubicBezTo>
                    <a:pt x="13380" y="1191284"/>
                    <a:pt x="0" y="1158981"/>
                    <a:pt x="0" y="1125299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129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82271" y="1300311"/>
            <a:ext cx="4706262" cy="5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3569" spc="3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BENJAMÍN CELIS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0624" y="2001361"/>
            <a:ext cx="5484822" cy="760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b="true" sz="2677" spc="286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 DE EGRESO</a:t>
            </a:r>
            <a:r>
              <a:rPr lang="en-US" b="true" sz="2677" spc="28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DESARROLLAR SOLUCIONES TECNOLÓGICAS APLICANDO CONOCIMIENTOS DE SOFTWARE, CON FOCO E INTERÉS EN ROLES DE SCRUM MASTER Y EL SECTOR HEALTHTECH.</a:t>
            </a:r>
          </a:p>
          <a:p>
            <a:pPr algn="ctr">
              <a:lnSpc>
                <a:spcPts val="3213"/>
              </a:lnSpc>
            </a:pPr>
          </a:p>
          <a:p>
            <a:pPr algn="ctr">
              <a:lnSpc>
                <a:spcPts val="3213"/>
              </a:lnSpc>
            </a:pPr>
            <a:r>
              <a:rPr lang="en-US" b="true" sz="2677" spc="286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VINCULACIÓN:</a:t>
            </a:r>
            <a:r>
              <a:rPr lang="en-US" b="true" sz="2677" spc="28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ctr">
              <a:lnSpc>
                <a:spcPts val="3213"/>
              </a:lnSpc>
            </a:pPr>
            <a:r>
              <a:rPr lang="en-US" b="true" sz="2677" spc="28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Aporté colaborativamente al modelado de la base de datos y al desarrollo de las APIs.</a:t>
            </a:r>
          </a:p>
          <a:p>
            <a:pPr algn="ctr">
              <a:lnSpc>
                <a:spcPts val="3213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070632" y="1798158"/>
            <a:ext cx="7558825" cy="7251950"/>
          </a:xfrm>
          <a:custGeom>
            <a:avLst/>
            <a:gdLst/>
            <a:ahLst/>
            <a:cxnLst/>
            <a:rect r="r" b="b" t="t" l="l"/>
            <a:pathLst>
              <a:path h="7251950" w="7558825">
                <a:moveTo>
                  <a:pt x="0" y="0"/>
                </a:moveTo>
                <a:lnTo>
                  <a:pt x="7558825" y="0"/>
                </a:lnTo>
                <a:lnTo>
                  <a:pt x="7558825" y="7251950"/>
                </a:lnTo>
                <a:lnTo>
                  <a:pt x="0" y="7251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550114" y="1042988"/>
            <a:ext cx="19388227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50114" y="10005303"/>
            <a:ext cx="24740282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7294" y="142875"/>
            <a:ext cx="1811341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1"/>
              </a:lnSpc>
            </a:pPr>
            <a:r>
              <a:rPr lang="en-US" b="true" sz="4793" spc="5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VINCULACIÓN CON EL PERFIL DE EGRESO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05473" y="1296958"/>
            <a:ext cx="5487280" cy="8454375"/>
            <a:chOff x="0" y="0"/>
            <a:chExt cx="812800" cy="12522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52299"/>
            </a:xfrm>
            <a:custGeom>
              <a:avLst/>
              <a:gdLst/>
              <a:ahLst/>
              <a:cxnLst/>
              <a:rect r="r" b="b" t="t" l="l"/>
              <a:pathLst>
                <a:path h="1252299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1125299"/>
                  </a:lnTo>
                  <a:cubicBezTo>
                    <a:pt x="812800" y="1195439"/>
                    <a:pt x="755940" y="1252299"/>
                    <a:pt x="685800" y="1252299"/>
                  </a:cubicBezTo>
                  <a:lnTo>
                    <a:pt x="127000" y="1252299"/>
                  </a:lnTo>
                  <a:cubicBezTo>
                    <a:pt x="93318" y="1252299"/>
                    <a:pt x="61015" y="1238919"/>
                    <a:pt x="37197" y="1215102"/>
                  </a:cubicBezTo>
                  <a:cubicBezTo>
                    <a:pt x="13380" y="1191284"/>
                    <a:pt x="0" y="1158981"/>
                    <a:pt x="0" y="1125299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129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82009" y="1441221"/>
            <a:ext cx="4529472" cy="5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3569" spc="3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NICOLÁS MELLA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6702" y="2142272"/>
            <a:ext cx="5484822" cy="720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b="true" sz="2677" spc="286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 DE EGRESO</a:t>
            </a:r>
            <a:r>
              <a:rPr lang="en-US" b="true" sz="2677" spc="28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DESARROLLO FRONTEND Y DISEÑO UX/UI. ESPECIALIZADO EN INTERFACES WEB RESPONSIVAS E INTEGRACIÓN DE VISTAS CON APIS REST.</a:t>
            </a:r>
          </a:p>
          <a:p>
            <a:pPr algn="ctr">
              <a:lnSpc>
                <a:spcPts val="3213"/>
              </a:lnSpc>
            </a:pPr>
          </a:p>
          <a:p>
            <a:pPr algn="ctr">
              <a:lnSpc>
                <a:spcPts val="3213"/>
              </a:lnSpc>
            </a:pPr>
            <a:r>
              <a:rPr lang="en-US" b="true" sz="2677" spc="286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VINCULACIÓN</a:t>
            </a:r>
            <a:r>
              <a:rPr lang="en-US" b="true" sz="2677" spc="28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</a:t>
            </a:r>
          </a:p>
          <a:p>
            <a:pPr algn="ctr">
              <a:lnSpc>
                <a:spcPts val="3213"/>
              </a:lnSpc>
            </a:pPr>
            <a:r>
              <a:rPr lang="en-US" b="true" sz="2677" spc="28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Diseñé el portal clínico de Kineconnect (vinculación por RUT y catálogos visuales), eliminando el uso de pautas en papel.</a:t>
            </a:r>
          </a:p>
          <a:p>
            <a:pPr algn="ctr">
              <a:lnSpc>
                <a:spcPts val="3213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741771" y="1444313"/>
            <a:ext cx="6761633" cy="7959640"/>
          </a:xfrm>
          <a:custGeom>
            <a:avLst/>
            <a:gdLst/>
            <a:ahLst/>
            <a:cxnLst/>
            <a:rect r="r" b="b" t="t" l="l"/>
            <a:pathLst>
              <a:path h="7959640" w="6761633">
                <a:moveTo>
                  <a:pt x="0" y="0"/>
                </a:moveTo>
                <a:lnTo>
                  <a:pt x="6761633" y="0"/>
                </a:lnTo>
                <a:lnTo>
                  <a:pt x="6761633" y="7959640"/>
                </a:lnTo>
                <a:lnTo>
                  <a:pt x="0" y="7959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-550114" y="1042988"/>
            <a:ext cx="19388227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50114" y="10005303"/>
            <a:ext cx="24740282" cy="0"/>
          </a:xfrm>
          <a:prstGeom prst="line">
            <a:avLst/>
          </a:prstGeom>
          <a:ln cap="flat" w="28575">
            <a:solidFill>
              <a:srgbClr val="EDEF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7294" y="142875"/>
            <a:ext cx="1811341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1"/>
              </a:lnSpc>
            </a:pPr>
            <a:r>
              <a:rPr lang="en-US" b="true" sz="4793" spc="5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VINCULACIÓN CON EL PERFIL DE EGRESO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19136" y="1166224"/>
            <a:ext cx="5487280" cy="8454375"/>
            <a:chOff x="0" y="0"/>
            <a:chExt cx="812800" cy="12522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252299"/>
            </a:xfrm>
            <a:custGeom>
              <a:avLst/>
              <a:gdLst/>
              <a:ahLst/>
              <a:cxnLst/>
              <a:rect r="r" b="b" t="t" l="l"/>
              <a:pathLst>
                <a:path h="1252299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1125299"/>
                  </a:lnTo>
                  <a:cubicBezTo>
                    <a:pt x="812800" y="1195439"/>
                    <a:pt x="755940" y="1252299"/>
                    <a:pt x="685800" y="1252299"/>
                  </a:cubicBezTo>
                  <a:lnTo>
                    <a:pt x="127000" y="1252299"/>
                  </a:lnTo>
                  <a:cubicBezTo>
                    <a:pt x="93318" y="1252299"/>
                    <a:pt x="61015" y="1238919"/>
                    <a:pt x="37197" y="1215102"/>
                  </a:cubicBezTo>
                  <a:cubicBezTo>
                    <a:pt x="13380" y="1191284"/>
                    <a:pt x="0" y="1158981"/>
                    <a:pt x="0" y="1125299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B1B3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1290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994681" y="1310488"/>
            <a:ext cx="3736191" cy="5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3569" spc="3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MATÍAS SÁEZ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2733" y="2021063"/>
            <a:ext cx="5489557" cy="786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6"/>
              </a:lnSpc>
            </a:pPr>
            <a:r>
              <a:rPr lang="en-US" b="true" sz="2613" spc="27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 DE EGRESO</a:t>
            </a:r>
            <a:r>
              <a:rPr lang="en-US" b="true" sz="2613" spc="27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 algn="ctr">
              <a:lnSpc>
                <a:spcPts val="3136"/>
              </a:lnSpc>
            </a:pPr>
            <a:r>
              <a:rPr lang="en-US" b="true" sz="2613" spc="27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APLICAR HABILIDADES DE ANÁLISIS Y ORGANIZACIÓN DE INFORMACIÓN EN EL DESARROLLO DE SOLUCIONES TECNOLÓGICAS.</a:t>
            </a:r>
          </a:p>
          <a:p>
            <a:pPr algn="ctr">
              <a:lnSpc>
                <a:spcPts val="3136"/>
              </a:lnSpc>
            </a:pPr>
          </a:p>
          <a:p>
            <a:pPr algn="ctr">
              <a:lnSpc>
                <a:spcPts val="3136"/>
              </a:lnSpc>
            </a:pPr>
            <a:r>
              <a:rPr lang="en-US" b="true" sz="2613" spc="27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Vinculación</a:t>
            </a:r>
            <a:r>
              <a:rPr lang="en-US" b="true" sz="2613" spc="27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</a:t>
            </a:r>
          </a:p>
          <a:p>
            <a:pPr algn="ctr">
              <a:lnSpc>
                <a:spcPts val="3136"/>
              </a:lnSpc>
            </a:pPr>
            <a:r>
              <a:rPr lang="en-US" b="true" sz="2613" spc="27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 interés en el análisis de datos se relaciona con mi aporte en la creación de documentos, donde organicé y estructuré información relevante para el proyecto KineConect.</a:t>
            </a:r>
          </a:p>
          <a:p>
            <a:pPr algn="ctr">
              <a:lnSpc>
                <a:spcPts val="3136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866736" y="1892531"/>
            <a:ext cx="6080842" cy="7263228"/>
          </a:xfrm>
          <a:custGeom>
            <a:avLst/>
            <a:gdLst/>
            <a:ahLst/>
            <a:cxnLst/>
            <a:rect r="r" b="b" t="t" l="l"/>
            <a:pathLst>
              <a:path h="7263228" w="6080842">
                <a:moveTo>
                  <a:pt x="0" y="0"/>
                </a:moveTo>
                <a:lnTo>
                  <a:pt x="6080842" y="0"/>
                </a:lnTo>
                <a:lnTo>
                  <a:pt x="6080842" y="7263228"/>
                </a:lnTo>
                <a:lnTo>
                  <a:pt x="0" y="7263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DAHYNhXj7mI</dc:identifier>
  <dcterms:modified xsi:type="dcterms:W3CDTF">2011-08-01T06:04:30Z</dcterms:modified>
  <cp:revision>1</cp:revision>
  <dc:title>Benjamín Celis — Product Owner / Full Stack Developer Matías Sáez — Backend Developer &amp; Data Lead Nicolás Mella — Frontend Developer &amp; UI/UX</dc:title>
</cp:coreProperties>
</file>