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al Bold" panose="020B0604020202020204" charset="0"/>
      <p:regular r:id="rId13"/>
    </p:embeddedFont>
    <p:embeddedFont>
      <p:font typeface="Montserrat Bold" panose="020B0604020202020204" charset="0"/>
      <p:regular r:id="rId14"/>
    </p:embeddedFont>
    <p:embeddedFont>
      <p:font typeface="Montserrat Semi-Bold" panose="020B0604020202020204" charset="0"/>
      <p:regular r:id="rId15"/>
    </p:embeddedFont>
    <p:embeddedFont>
      <p:font typeface="Montserrat Ultra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5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-622527" y="9729787"/>
            <a:ext cx="19612250" cy="0"/>
          </a:xfrm>
          <a:prstGeom prst="line">
            <a:avLst/>
          </a:prstGeom>
          <a:ln w="28575" cap="flat">
            <a:solidFill>
              <a:srgbClr val="309A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 flipH="1">
            <a:off x="-622527" y="559037"/>
            <a:ext cx="19388227" cy="0"/>
          </a:xfrm>
          <a:prstGeom prst="line">
            <a:avLst/>
          </a:prstGeom>
          <a:ln w="28575" cap="flat">
            <a:solidFill>
              <a:srgbClr val="309A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0" y="3713865"/>
            <a:ext cx="18288000" cy="2231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36"/>
              </a:lnSpc>
            </a:pPr>
            <a:r>
              <a:rPr lang="en-US" sz="15341" b="1" spc="2178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KINECONECT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9252" y="5945754"/>
            <a:ext cx="15565748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28"/>
              </a:lnSpc>
              <a:spcBef>
                <a:spcPct val="0"/>
              </a:spcBef>
            </a:pPr>
            <a:r>
              <a:rPr lang="en-US" sz="4147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INTEGRANTES: Benjamín Celis · Nicolás Mella · Matías Sáez</a:t>
            </a:r>
          </a:p>
        </p:txBody>
      </p:sp>
      <p:sp>
        <p:nvSpPr>
          <p:cNvPr id="7" name="AutoShape 7"/>
          <p:cNvSpPr/>
          <p:nvPr/>
        </p:nvSpPr>
        <p:spPr>
          <a:xfrm flipH="1">
            <a:off x="-1015348" y="5665660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-550114" y="9595474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 flipH="1">
            <a:off x="-550114" y="1241484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510" y="76200"/>
            <a:ext cx="18288000" cy="95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sz="6193" b="1" spc="6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PROBLEMÁTICA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0624" y="2644776"/>
            <a:ext cx="5705654" cy="5502149"/>
            <a:chOff x="0" y="0"/>
            <a:chExt cx="845146" cy="815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5146" cy="815002"/>
            </a:xfrm>
            <a:custGeom>
              <a:avLst/>
              <a:gdLst/>
              <a:ahLst/>
              <a:cxnLst/>
              <a:rect l="l" t="t" r="r" b="b"/>
              <a:pathLst>
                <a:path w="845146" h="815002">
                  <a:moveTo>
                    <a:pt x="122139" y="0"/>
                  </a:moveTo>
                  <a:lnTo>
                    <a:pt x="723007" y="0"/>
                  </a:lnTo>
                  <a:cubicBezTo>
                    <a:pt x="755400" y="0"/>
                    <a:pt x="786467" y="12868"/>
                    <a:pt x="809373" y="35774"/>
                  </a:cubicBezTo>
                  <a:cubicBezTo>
                    <a:pt x="832278" y="58679"/>
                    <a:pt x="845146" y="89746"/>
                    <a:pt x="845146" y="122139"/>
                  </a:cubicBezTo>
                  <a:lnTo>
                    <a:pt x="845146" y="692863"/>
                  </a:lnTo>
                  <a:cubicBezTo>
                    <a:pt x="845146" y="725256"/>
                    <a:pt x="832278" y="756323"/>
                    <a:pt x="809373" y="779229"/>
                  </a:cubicBezTo>
                  <a:cubicBezTo>
                    <a:pt x="786467" y="802134"/>
                    <a:pt x="755400" y="815002"/>
                    <a:pt x="723007" y="815002"/>
                  </a:cubicBezTo>
                  <a:lnTo>
                    <a:pt x="122139" y="815002"/>
                  </a:lnTo>
                  <a:cubicBezTo>
                    <a:pt x="89746" y="815002"/>
                    <a:pt x="58679" y="802134"/>
                    <a:pt x="35774" y="779229"/>
                  </a:cubicBezTo>
                  <a:cubicBezTo>
                    <a:pt x="12868" y="756323"/>
                    <a:pt x="0" y="725256"/>
                    <a:pt x="0" y="692863"/>
                  </a:cubicBezTo>
                  <a:lnTo>
                    <a:pt x="0" y="122139"/>
                  </a:lnTo>
                  <a:cubicBezTo>
                    <a:pt x="0" y="89746"/>
                    <a:pt x="12868" y="58679"/>
                    <a:pt x="35774" y="35774"/>
                  </a:cubicBezTo>
                  <a:cubicBezTo>
                    <a:pt x="58679" y="12868"/>
                    <a:pt x="89746" y="0"/>
                    <a:pt x="122139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45146" cy="853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7058" y="2919026"/>
            <a:ext cx="527278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sz="3191" b="1" u="sng" spc="341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SOPORTE ESTÁTICO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341" y="3978235"/>
            <a:ext cx="5606220" cy="305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859" b="1" spc="306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LAS PAUTAS EN PAPEL NO MUESTRAN EL MOVIMIENTO, POSTURA DINÁMICA NI DESCANSOS FISIOLÓGICOS; ESTO PUEDE DIFICULTAR LA EJECUCIÓN CORRECTA.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241456" y="2644776"/>
            <a:ext cx="5705654" cy="5502149"/>
            <a:chOff x="0" y="0"/>
            <a:chExt cx="845146" cy="815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45146" cy="815002"/>
            </a:xfrm>
            <a:custGeom>
              <a:avLst/>
              <a:gdLst/>
              <a:ahLst/>
              <a:cxnLst/>
              <a:rect l="l" t="t" r="r" b="b"/>
              <a:pathLst>
                <a:path w="845146" h="815002">
                  <a:moveTo>
                    <a:pt x="122139" y="0"/>
                  </a:moveTo>
                  <a:lnTo>
                    <a:pt x="723007" y="0"/>
                  </a:lnTo>
                  <a:cubicBezTo>
                    <a:pt x="755400" y="0"/>
                    <a:pt x="786467" y="12868"/>
                    <a:pt x="809373" y="35774"/>
                  </a:cubicBezTo>
                  <a:cubicBezTo>
                    <a:pt x="832278" y="58679"/>
                    <a:pt x="845146" y="89746"/>
                    <a:pt x="845146" y="122139"/>
                  </a:cubicBezTo>
                  <a:lnTo>
                    <a:pt x="845146" y="692863"/>
                  </a:lnTo>
                  <a:cubicBezTo>
                    <a:pt x="845146" y="725256"/>
                    <a:pt x="832278" y="756323"/>
                    <a:pt x="809373" y="779229"/>
                  </a:cubicBezTo>
                  <a:cubicBezTo>
                    <a:pt x="786467" y="802134"/>
                    <a:pt x="755400" y="815002"/>
                    <a:pt x="723007" y="815002"/>
                  </a:cubicBezTo>
                  <a:lnTo>
                    <a:pt x="122139" y="815002"/>
                  </a:lnTo>
                  <a:cubicBezTo>
                    <a:pt x="89746" y="815002"/>
                    <a:pt x="58679" y="802134"/>
                    <a:pt x="35774" y="779229"/>
                  </a:cubicBezTo>
                  <a:cubicBezTo>
                    <a:pt x="12868" y="756323"/>
                    <a:pt x="0" y="725256"/>
                    <a:pt x="0" y="692863"/>
                  </a:cubicBezTo>
                  <a:lnTo>
                    <a:pt x="0" y="122139"/>
                  </a:lnTo>
                  <a:cubicBezTo>
                    <a:pt x="0" y="89746"/>
                    <a:pt x="12868" y="58679"/>
                    <a:pt x="35774" y="35774"/>
                  </a:cubicBezTo>
                  <a:cubicBezTo>
                    <a:pt x="58679" y="12868"/>
                    <a:pt x="89746" y="0"/>
                    <a:pt x="122139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45146" cy="853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507607" y="2919026"/>
            <a:ext cx="527278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sz="3191" b="1" u="sng" spc="341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ADHERENCIA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40890" y="3832431"/>
            <a:ext cx="5606220" cy="348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sz="2859" b="1" spc="306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LA FALTA DE GUÍA Y ACOMPAÑAMIENTO CONTINUO PUEDE CONTRIBUIR A QUE EL PACIENTE ABANDONE EL TRATAMIENTO NO SUPERVISADO.</a:t>
            </a:r>
          </a:p>
          <a:p>
            <a:pPr algn="ctr">
              <a:lnSpc>
                <a:spcPts val="3431"/>
              </a:lnSpc>
              <a:spcBef>
                <a:spcPct val="0"/>
              </a:spcBef>
            </a:pPr>
            <a:endParaRPr lang="en-US" sz="2859" b="1" spc="306" dirty="0">
              <a:solidFill>
                <a:srgbClr val="FFFFFF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2518610" y="2644776"/>
            <a:ext cx="5705654" cy="5502149"/>
            <a:chOff x="0" y="0"/>
            <a:chExt cx="845146" cy="81500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45146" cy="815002"/>
            </a:xfrm>
            <a:custGeom>
              <a:avLst/>
              <a:gdLst/>
              <a:ahLst/>
              <a:cxnLst/>
              <a:rect l="l" t="t" r="r" b="b"/>
              <a:pathLst>
                <a:path w="845146" h="815002">
                  <a:moveTo>
                    <a:pt x="122139" y="0"/>
                  </a:moveTo>
                  <a:lnTo>
                    <a:pt x="723007" y="0"/>
                  </a:lnTo>
                  <a:cubicBezTo>
                    <a:pt x="755400" y="0"/>
                    <a:pt x="786467" y="12868"/>
                    <a:pt x="809373" y="35774"/>
                  </a:cubicBezTo>
                  <a:cubicBezTo>
                    <a:pt x="832278" y="58679"/>
                    <a:pt x="845146" y="89746"/>
                    <a:pt x="845146" y="122139"/>
                  </a:cubicBezTo>
                  <a:lnTo>
                    <a:pt x="845146" y="692863"/>
                  </a:lnTo>
                  <a:cubicBezTo>
                    <a:pt x="845146" y="725256"/>
                    <a:pt x="832278" y="756323"/>
                    <a:pt x="809373" y="779229"/>
                  </a:cubicBezTo>
                  <a:cubicBezTo>
                    <a:pt x="786467" y="802134"/>
                    <a:pt x="755400" y="815002"/>
                    <a:pt x="723007" y="815002"/>
                  </a:cubicBezTo>
                  <a:lnTo>
                    <a:pt x="122139" y="815002"/>
                  </a:lnTo>
                  <a:cubicBezTo>
                    <a:pt x="89746" y="815002"/>
                    <a:pt x="58679" y="802134"/>
                    <a:pt x="35774" y="779229"/>
                  </a:cubicBezTo>
                  <a:cubicBezTo>
                    <a:pt x="12868" y="756323"/>
                    <a:pt x="0" y="725256"/>
                    <a:pt x="0" y="692863"/>
                  </a:cubicBezTo>
                  <a:lnTo>
                    <a:pt x="0" y="122139"/>
                  </a:lnTo>
                  <a:cubicBezTo>
                    <a:pt x="0" y="89746"/>
                    <a:pt x="12868" y="58679"/>
                    <a:pt x="35774" y="35774"/>
                  </a:cubicBezTo>
                  <a:cubicBezTo>
                    <a:pt x="58679" y="12868"/>
                    <a:pt x="89746" y="0"/>
                    <a:pt x="122139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45146" cy="853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28156" y="2919026"/>
            <a:ext cx="527278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sz="3191" b="1" u="sng" spc="341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TRAZABILIDAD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68327" y="4048938"/>
            <a:ext cx="5606220" cy="3052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sz="2859" b="1" spc="306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EL PROFESIONAL CARECE DE MÉTRICAS OBJETIVAS SOBRE CUMPLIMIENTO Y DOLOR REPORTADO EN EL HOGAR.</a:t>
            </a:r>
          </a:p>
          <a:p>
            <a:pPr algn="ctr">
              <a:lnSpc>
                <a:spcPts val="3431"/>
              </a:lnSpc>
              <a:spcBef>
                <a:spcPct val="0"/>
              </a:spcBef>
            </a:pPr>
            <a:endParaRPr lang="en-US" sz="2859" b="1" spc="306" dirty="0">
              <a:solidFill>
                <a:srgbClr val="FFFFFF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622527" y="1148219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-1409027" y="9272588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510" y="76200"/>
            <a:ext cx="1828800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sz="6193" b="1" spc="6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DEL PROYECTO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7099" y="2495618"/>
            <a:ext cx="17073801" cy="962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3"/>
              </a:lnSpc>
              <a:spcBef>
                <a:spcPct val="0"/>
              </a:spcBef>
            </a:pPr>
            <a:r>
              <a:rPr lang="en-US" sz="3161" b="1" spc="338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DESARROLLAR UNA PLATAFORMA WEB Y MÓVIL QUE APOYE LA GESTIÓN Y EL SEGUIMIENTO INTERACTIVO DE TERAPIAS KINÉSICAS.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37711" y="1451348"/>
            <a:ext cx="8212578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38"/>
              </a:lnSpc>
              <a:spcBef>
                <a:spcPct val="0"/>
              </a:spcBef>
            </a:pPr>
            <a:r>
              <a:rPr lang="en-US" sz="4865" b="1" u="sng" spc="520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OBJETIVO GENERAL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18591" y="3902719"/>
            <a:ext cx="10481156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43"/>
              </a:lnSpc>
              <a:spcBef>
                <a:spcPct val="0"/>
              </a:spcBef>
            </a:pPr>
            <a:r>
              <a:rPr lang="en-US" sz="4869" b="1" u="sng" spc="52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OBJETIVOS</a:t>
            </a:r>
            <a:r>
              <a:rPr lang="en-US" sz="4869" b="1" spc="52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  <a:r>
              <a:rPr lang="en-US" sz="4869" b="1" u="sng" spc="52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ESPECÍFICOS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4713" y="5549786"/>
            <a:ext cx="5272509" cy="3666982"/>
            <a:chOff x="0" y="0"/>
            <a:chExt cx="780987" cy="5431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0987" cy="543169"/>
            </a:xfrm>
            <a:custGeom>
              <a:avLst/>
              <a:gdLst/>
              <a:ahLst/>
              <a:cxnLst/>
              <a:rect l="l" t="t" r="r" b="b"/>
              <a:pathLst>
                <a:path w="780987" h="543169">
                  <a:moveTo>
                    <a:pt x="132173" y="0"/>
                  </a:moveTo>
                  <a:lnTo>
                    <a:pt x="648814" y="0"/>
                  </a:lnTo>
                  <a:cubicBezTo>
                    <a:pt x="683868" y="0"/>
                    <a:pt x="717487" y="13925"/>
                    <a:pt x="742274" y="38713"/>
                  </a:cubicBezTo>
                  <a:cubicBezTo>
                    <a:pt x="767062" y="63500"/>
                    <a:pt x="780987" y="97119"/>
                    <a:pt x="780987" y="132173"/>
                  </a:cubicBezTo>
                  <a:lnTo>
                    <a:pt x="780987" y="410996"/>
                  </a:lnTo>
                  <a:cubicBezTo>
                    <a:pt x="780987" y="446051"/>
                    <a:pt x="767062" y="479670"/>
                    <a:pt x="742274" y="504457"/>
                  </a:cubicBezTo>
                  <a:cubicBezTo>
                    <a:pt x="717487" y="529244"/>
                    <a:pt x="683868" y="543169"/>
                    <a:pt x="648814" y="543169"/>
                  </a:cubicBezTo>
                  <a:lnTo>
                    <a:pt x="132173" y="543169"/>
                  </a:lnTo>
                  <a:cubicBezTo>
                    <a:pt x="97119" y="543169"/>
                    <a:pt x="63500" y="529244"/>
                    <a:pt x="38713" y="504457"/>
                  </a:cubicBezTo>
                  <a:cubicBezTo>
                    <a:pt x="13925" y="479670"/>
                    <a:pt x="0" y="446051"/>
                    <a:pt x="0" y="410996"/>
                  </a:cubicBezTo>
                  <a:lnTo>
                    <a:pt x="0" y="132173"/>
                  </a:lnTo>
                  <a:cubicBezTo>
                    <a:pt x="0" y="97119"/>
                    <a:pt x="13925" y="63500"/>
                    <a:pt x="38713" y="38713"/>
                  </a:cubicBezTo>
                  <a:cubicBezTo>
                    <a:pt x="63500" y="13925"/>
                    <a:pt x="97119" y="0"/>
                    <a:pt x="132173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80987" cy="581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86597" y="5706989"/>
            <a:ext cx="3964781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  <a:spcBef>
                <a:spcPct val="0"/>
              </a:spcBef>
            </a:pPr>
            <a:r>
              <a:rPr lang="en-US" sz="2312" b="1" u="sng" spc="247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MODELAR LOS DATOS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891116" y="5549786"/>
            <a:ext cx="5272509" cy="3666982"/>
            <a:chOff x="0" y="0"/>
            <a:chExt cx="780987" cy="5431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0987" cy="543169"/>
            </a:xfrm>
            <a:custGeom>
              <a:avLst/>
              <a:gdLst/>
              <a:ahLst/>
              <a:cxnLst/>
              <a:rect l="l" t="t" r="r" b="b"/>
              <a:pathLst>
                <a:path w="780987" h="543169">
                  <a:moveTo>
                    <a:pt x="132173" y="0"/>
                  </a:moveTo>
                  <a:lnTo>
                    <a:pt x="648814" y="0"/>
                  </a:lnTo>
                  <a:cubicBezTo>
                    <a:pt x="683868" y="0"/>
                    <a:pt x="717487" y="13925"/>
                    <a:pt x="742274" y="38713"/>
                  </a:cubicBezTo>
                  <a:cubicBezTo>
                    <a:pt x="767062" y="63500"/>
                    <a:pt x="780987" y="97119"/>
                    <a:pt x="780987" y="132173"/>
                  </a:cubicBezTo>
                  <a:lnTo>
                    <a:pt x="780987" y="410996"/>
                  </a:lnTo>
                  <a:cubicBezTo>
                    <a:pt x="780987" y="446051"/>
                    <a:pt x="767062" y="479670"/>
                    <a:pt x="742274" y="504457"/>
                  </a:cubicBezTo>
                  <a:cubicBezTo>
                    <a:pt x="717487" y="529244"/>
                    <a:pt x="683868" y="543169"/>
                    <a:pt x="648814" y="543169"/>
                  </a:cubicBezTo>
                  <a:lnTo>
                    <a:pt x="132173" y="543169"/>
                  </a:lnTo>
                  <a:cubicBezTo>
                    <a:pt x="97119" y="543169"/>
                    <a:pt x="63500" y="529244"/>
                    <a:pt x="38713" y="504457"/>
                  </a:cubicBezTo>
                  <a:cubicBezTo>
                    <a:pt x="13925" y="479670"/>
                    <a:pt x="0" y="446051"/>
                    <a:pt x="0" y="410996"/>
                  </a:cubicBezTo>
                  <a:lnTo>
                    <a:pt x="0" y="132173"/>
                  </a:lnTo>
                  <a:cubicBezTo>
                    <a:pt x="0" y="97119"/>
                    <a:pt x="13925" y="63500"/>
                    <a:pt x="38713" y="38713"/>
                  </a:cubicBezTo>
                  <a:cubicBezTo>
                    <a:pt x="63500" y="13925"/>
                    <a:pt x="97119" y="0"/>
                    <a:pt x="132173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80987" cy="581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22915" y="5469996"/>
            <a:ext cx="5272509" cy="3788304"/>
            <a:chOff x="0" y="0"/>
            <a:chExt cx="780987" cy="5611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0987" cy="561140"/>
            </a:xfrm>
            <a:custGeom>
              <a:avLst/>
              <a:gdLst/>
              <a:ahLst/>
              <a:cxnLst/>
              <a:rect l="l" t="t" r="r" b="b"/>
              <a:pathLst>
                <a:path w="780987" h="561140">
                  <a:moveTo>
                    <a:pt x="132173" y="0"/>
                  </a:moveTo>
                  <a:lnTo>
                    <a:pt x="648814" y="0"/>
                  </a:lnTo>
                  <a:cubicBezTo>
                    <a:pt x="683868" y="0"/>
                    <a:pt x="717487" y="13925"/>
                    <a:pt x="742274" y="38713"/>
                  </a:cubicBezTo>
                  <a:cubicBezTo>
                    <a:pt x="767062" y="63500"/>
                    <a:pt x="780987" y="97119"/>
                    <a:pt x="780987" y="132173"/>
                  </a:cubicBezTo>
                  <a:lnTo>
                    <a:pt x="780987" y="428967"/>
                  </a:lnTo>
                  <a:cubicBezTo>
                    <a:pt x="780987" y="464021"/>
                    <a:pt x="767062" y="497640"/>
                    <a:pt x="742274" y="522428"/>
                  </a:cubicBezTo>
                  <a:cubicBezTo>
                    <a:pt x="717487" y="547215"/>
                    <a:pt x="683868" y="561140"/>
                    <a:pt x="648814" y="561140"/>
                  </a:cubicBezTo>
                  <a:lnTo>
                    <a:pt x="132173" y="561140"/>
                  </a:lnTo>
                  <a:cubicBezTo>
                    <a:pt x="97119" y="561140"/>
                    <a:pt x="63500" y="547215"/>
                    <a:pt x="38713" y="522428"/>
                  </a:cubicBezTo>
                  <a:cubicBezTo>
                    <a:pt x="13925" y="497640"/>
                    <a:pt x="0" y="464021"/>
                    <a:pt x="0" y="428967"/>
                  </a:cubicBezTo>
                  <a:lnTo>
                    <a:pt x="0" y="132173"/>
                  </a:lnTo>
                  <a:cubicBezTo>
                    <a:pt x="0" y="97119"/>
                    <a:pt x="13925" y="63500"/>
                    <a:pt x="38713" y="38713"/>
                  </a:cubicBezTo>
                  <a:cubicBezTo>
                    <a:pt x="63500" y="13925"/>
                    <a:pt x="97119" y="0"/>
                    <a:pt x="132173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80987" cy="599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48407" y="6766265"/>
            <a:ext cx="4693383" cy="1344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Usuarios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,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ejercicios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,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pautas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y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registros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de feedback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en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una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base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relacional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12477" y="6711233"/>
            <a:ext cx="4693383" cy="1344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Desarrollar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APIs para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administrar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la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información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e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integrar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los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 </a:t>
            </a:r>
            <a:r>
              <a:rPr lang="en-US" sz="2552" b="1" dirty="0" err="1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componentes</a:t>
            </a:r>
            <a:r>
              <a:rPr lang="en-US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79668" y="5706989"/>
            <a:ext cx="4159002" cy="33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  <a:spcBef>
                <a:spcPct val="0"/>
              </a:spcBef>
            </a:pPr>
            <a:r>
              <a:rPr lang="en-US" sz="2312" b="1" u="sng" spc="247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CONSTRUIR SERVICIOS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00541" y="5706989"/>
            <a:ext cx="4853657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spcBef>
                <a:spcPct val="0"/>
              </a:spcBef>
            </a:pPr>
            <a:r>
              <a:rPr lang="en-US" sz="2212" b="1" u="sng" spc="236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MÓDULO DE PRESCRIPCIÓN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80677" y="6597805"/>
            <a:ext cx="4693383" cy="157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s-MX" sz="2552" b="1" dirty="0">
                <a:solidFill>
                  <a:srgbClr val="FFFFFF"/>
                </a:solidFill>
                <a:latin typeface="Arial" panose="020B0604020202020204" pitchFamily="34" charset="0"/>
                <a:ea typeface="Montserrat Semi-Bold"/>
                <a:cs typeface="Arial" panose="020B0604020202020204" pitchFamily="34" charset="0"/>
                <a:sym typeface="Montserrat Semi-Bold"/>
              </a:rPr>
              <a:t>Construir e implementar las funciones para la prescripción y ejecución de ejercicios.</a:t>
            </a:r>
            <a:endParaRPr lang="en-US" sz="2552" b="1" dirty="0">
              <a:solidFill>
                <a:srgbClr val="FFFFFF"/>
              </a:solidFill>
              <a:latin typeface="Arial" panose="020B0604020202020204" pitchFamily="34" charset="0"/>
              <a:ea typeface="Montserrat Semi-Bold"/>
              <a:cs typeface="Arial" panose="020B0604020202020204" pitchFamily="34" charset="0"/>
              <a:sym typeface="Montserrat Semi-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550114" y="1014412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-550114" y="10165893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3826622" y="1074856"/>
            <a:ext cx="10635776" cy="9030594"/>
          </a:xfrm>
          <a:custGeom>
            <a:avLst/>
            <a:gdLst/>
            <a:ahLst/>
            <a:cxnLst/>
            <a:rect l="l" t="t" r="r" b="b"/>
            <a:pathLst>
              <a:path w="10635776" h="9030594">
                <a:moveTo>
                  <a:pt x="0" y="0"/>
                </a:moveTo>
                <a:lnTo>
                  <a:pt x="10635776" y="0"/>
                </a:lnTo>
                <a:lnTo>
                  <a:pt x="10635776" y="9030594"/>
                </a:lnTo>
                <a:lnTo>
                  <a:pt x="0" y="9030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510" y="76200"/>
            <a:ext cx="18288000" cy="95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sz="6193" b="1" spc="6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ARQUITECTURA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223577" y="1486187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0" y="9849762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979311" y="228563"/>
            <a:ext cx="14142013" cy="89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1"/>
              </a:lnSpc>
            </a:pPr>
            <a:r>
              <a:rPr lang="en-US" sz="5893" b="1" spc="6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DE TRABAJO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3483" y="2875352"/>
            <a:ext cx="17179054" cy="97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Organizamos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el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hitos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permiten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avanzar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revisar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integrar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funcionalidades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200" b="1" spc="342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progresivamente</a:t>
            </a:r>
            <a:r>
              <a:rPr lang="en-US" sz="3200" b="1" spc="34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401" y="4808558"/>
            <a:ext cx="18125217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0998" lvl="1" indent="-450499" algn="l">
              <a:lnSpc>
                <a:spcPts val="5007"/>
              </a:lnSpc>
              <a:spcBef>
                <a:spcPct val="0"/>
              </a:spcBef>
              <a:buFont typeface="Arial"/>
              <a:buChar char="•"/>
            </a:pPr>
            <a:r>
              <a:rPr lang="en-US" sz="4173" b="1" spc="44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MODELADO DE LA BASE DE DATOS RELACIONAL.</a:t>
            </a:r>
          </a:p>
          <a:p>
            <a:pPr marL="900998" lvl="1" indent="-450499" algn="l">
              <a:lnSpc>
                <a:spcPts val="5007"/>
              </a:lnSpc>
              <a:spcBef>
                <a:spcPct val="0"/>
              </a:spcBef>
              <a:buFont typeface="Arial"/>
              <a:buChar char="•"/>
            </a:pPr>
            <a:r>
              <a:rPr lang="en-US" sz="4173" b="1" spc="44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DESARROLLO DE APIs BASE.</a:t>
            </a:r>
          </a:p>
          <a:p>
            <a:pPr marL="900998" lvl="1" indent="-450499" algn="l">
              <a:lnSpc>
                <a:spcPts val="5007"/>
              </a:lnSpc>
              <a:spcBef>
                <a:spcPct val="0"/>
              </a:spcBef>
              <a:buFont typeface="Arial"/>
              <a:buChar char="•"/>
            </a:pPr>
            <a:r>
              <a:rPr lang="en-US" sz="4173" b="1" spc="44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CONSTRUCCIÓN DEL MÓDULO DE PRESCRIPCIÓN DE EJERCICIOS.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0791" y="8286824"/>
            <a:ext cx="17304438" cy="97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spc="34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 ENFOQUE CONECTA CADA AVANCE CON LOS OBJETIVOS DEL PROYECTO Y FACILITA LA REVISIÓN CONTINUA DEL TRABAJO.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58389" y="1795057"/>
            <a:ext cx="7034623" cy="623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21"/>
              </a:lnSpc>
              <a:spcBef>
                <a:spcPct val="0"/>
              </a:spcBef>
            </a:pPr>
            <a:r>
              <a:rPr lang="en-US" sz="4101" b="1" u="sng" spc="438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ÁGIL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550114" y="1042988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 flipV="1">
            <a:off x="-622527" y="9424987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7986890" y="1938472"/>
            <a:ext cx="10027163" cy="2302826"/>
            <a:chOff x="0" y="0"/>
            <a:chExt cx="1409382" cy="3236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9382" cy="323677"/>
            </a:xfrm>
            <a:custGeom>
              <a:avLst/>
              <a:gdLst/>
              <a:ahLst/>
              <a:cxnLst/>
              <a:rect l="l" t="t" r="r" b="b"/>
              <a:pathLst>
                <a:path w="1409382" h="323677">
                  <a:moveTo>
                    <a:pt x="69500" y="0"/>
                  </a:moveTo>
                  <a:lnTo>
                    <a:pt x="1339882" y="0"/>
                  </a:lnTo>
                  <a:cubicBezTo>
                    <a:pt x="1378266" y="0"/>
                    <a:pt x="1409382" y="31116"/>
                    <a:pt x="1409382" y="69500"/>
                  </a:cubicBezTo>
                  <a:lnTo>
                    <a:pt x="1409382" y="254177"/>
                  </a:lnTo>
                  <a:cubicBezTo>
                    <a:pt x="1409382" y="292561"/>
                    <a:pt x="1378266" y="323677"/>
                    <a:pt x="1339882" y="323677"/>
                  </a:cubicBezTo>
                  <a:lnTo>
                    <a:pt x="69500" y="323677"/>
                  </a:lnTo>
                  <a:cubicBezTo>
                    <a:pt x="31116" y="323677"/>
                    <a:pt x="0" y="292561"/>
                    <a:pt x="0" y="254177"/>
                  </a:cubicBezTo>
                  <a:lnTo>
                    <a:pt x="0" y="69500"/>
                  </a:lnTo>
                  <a:cubicBezTo>
                    <a:pt x="0" y="31116"/>
                    <a:pt x="31116" y="0"/>
                    <a:pt x="69500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09382" cy="361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096042" y="1170366"/>
            <a:ext cx="4629228" cy="8087934"/>
          </a:xfrm>
          <a:custGeom>
            <a:avLst/>
            <a:gdLst/>
            <a:ahLst/>
            <a:cxnLst/>
            <a:rect l="l" t="t" r="r" b="b"/>
            <a:pathLst>
              <a:path w="4629228" h="8087934">
                <a:moveTo>
                  <a:pt x="0" y="0"/>
                </a:moveTo>
                <a:lnTo>
                  <a:pt x="4629229" y="0"/>
                </a:lnTo>
                <a:lnTo>
                  <a:pt x="4629229" y="8087934"/>
                </a:lnTo>
                <a:lnTo>
                  <a:pt x="0" y="8087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0" y="61451"/>
            <a:ext cx="18113413" cy="89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1"/>
              </a:lnSpc>
            </a:pPr>
            <a:r>
              <a:rPr lang="en-US" sz="5893" b="1" spc="630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CASOS DE USO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06273" y="2148298"/>
            <a:ext cx="5988395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32"/>
              </a:lnSpc>
              <a:spcBef>
                <a:spcPct val="0"/>
              </a:spcBef>
            </a:pPr>
            <a:r>
              <a:rPr lang="en-US" sz="3110" b="1" u="sng" spc="33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ACTORES DEL SISTEMA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564980" y="5717673"/>
            <a:ext cx="10539471" cy="2420483"/>
            <a:chOff x="0" y="0"/>
            <a:chExt cx="1409382" cy="3236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9382" cy="323677"/>
            </a:xfrm>
            <a:custGeom>
              <a:avLst/>
              <a:gdLst/>
              <a:ahLst/>
              <a:cxnLst/>
              <a:rect l="l" t="t" r="r" b="b"/>
              <a:pathLst>
                <a:path w="1409382" h="323677">
                  <a:moveTo>
                    <a:pt x="66121" y="0"/>
                  </a:moveTo>
                  <a:lnTo>
                    <a:pt x="1343260" y="0"/>
                  </a:lnTo>
                  <a:cubicBezTo>
                    <a:pt x="1379778" y="0"/>
                    <a:pt x="1409382" y="29604"/>
                    <a:pt x="1409382" y="66121"/>
                  </a:cubicBezTo>
                  <a:lnTo>
                    <a:pt x="1409382" y="257556"/>
                  </a:lnTo>
                  <a:cubicBezTo>
                    <a:pt x="1409382" y="294073"/>
                    <a:pt x="1379778" y="323677"/>
                    <a:pt x="1343260" y="323677"/>
                  </a:cubicBezTo>
                  <a:lnTo>
                    <a:pt x="66121" y="323677"/>
                  </a:lnTo>
                  <a:cubicBezTo>
                    <a:pt x="29604" y="323677"/>
                    <a:pt x="0" y="294073"/>
                    <a:pt x="0" y="257556"/>
                  </a:cubicBezTo>
                  <a:lnTo>
                    <a:pt x="0" y="66121"/>
                  </a:lnTo>
                  <a:cubicBezTo>
                    <a:pt x="0" y="29604"/>
                    <a:pt x="29604" y="0"/>
                    <a:pt x="66121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09382" cy="361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094536" y="6010607"/>
            <a:ext cx="5673142" cy="4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3"/>
              </a:lnSpc>
              <a:spcBef>
                <a:spcPct val="0"/>
              </a:spcBef>
            </a:pPr>
            <a:r>
              <a:rPr lang="en-US" sz="3269" b="1" u="sng" spc="3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FLUJOS PRINCIPALES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34400" y="2915721"/>
            <a:ext cx="9255644" cy="597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53"/>
              </a:lnSpc>
              <a:spcBef>
                <a:spcPct val="0"/>
              </a:spcBef>
            </a:pPr>
            <a:r>
              <a:rPr lang="en-US" sz="3538" b="1" dirty="0" err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Kinesiólogo</a:t>
            </a:r>
            <a:r>
              <a:rPr lang="en-US" sz="3538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· </a:t>
            </a:r>
            <a:r>
              <a:rPr lang="en-US" sz="3538" b="1" dirty="0" err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Paciente</a:t>
            </a:r>
            <a:r>
              <a:rPr lang="en-US" sz="3538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· </a:t>
            </a:r>
            <a:r>
              <a:rPr lang="en-US" sz="3538" b="1" dirty="0" err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Administrador</a:t>
            </a:r>
            <a:endParaRPr lang="en-US" sz="3538" b="1" dirty="0">
              <a:solidFill>
                <a:srgbClr val="FFFFF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629479" y="6802775"/>
            <a:ext cx="10410471" cy="76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s-MX" sz="2200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Gestión de inicio de sesión por RUT, prescripción de pautas personalizadas, monitoreo de pacientes y registro del dolor EVA.</a:t>
            </a:r>
            <a:endParaRPr lang="en-US" sz="2200" b="1" dirty="0">
              <a:solidFill>
                <a:srgbClr val="FFFFF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622527" y="794953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 flipV="1">
            <a:off x="-622527" y="9424987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0" y="2114550"/>
            <a:ext cx="18288000" cy="6057900"/>
          </a:xfrm>
          <a:custGeom>
            <a:avLst/>
            <a:gdLst/>
            <a:ahLst/>
            <a:cxnLst/>
            <a:rect l="l" t="t" r="r" b="b"/>
            <a:pathLst>
              <a:path w="18288000" h="6057900">
                <a:moveTo>
                  <a:pt x="0" y="0"/>
                </a:moveTo>
                <a:lnTo>
                  <a:pt x="18288000" y="0"/>
                </a:lnTo>
                <a:lnTo>
                  <a:pt x="18288000" y="6057900"/>
                </a:lnTo>
                <a:lnTo>
                  <a:pt x="0" y="6057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4419802" y="179054"/>
            <a:ext cx="9448395" cy="6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1"/>
              </a:lnSpc>
              <a:spcBef>
                <a:spcPct val="0"/>
              </a:spcBef>
            </a:pPr>
            <a:r>
              <a:rPr lang="en-US" sz="3959" b="1" spc="42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SECUENCIA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550114" y="1042988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 flipV="1">
            <a:off x="-622527" y="9424987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87294" y="142875"/>
            <a:ext cx="18113413" cy="709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sz="4793" b="1" spc="512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AVANCE Y RESULTADOS VERIFICABLES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474108" y="1581150"/>
            <a:ext cx="7926571" cy="7211932"/>
            <a:chOff x="0" y="0"/>
            <a:chExt cx="1174118" cy="10682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4118" cy="1068263"/>
            </a:xfrm>
            <a:custGeom>
              <a:avLst/>
              <a:gdLst/>
              <a:ahLst/>
              <a:cxnLst/>
              <a:rect l="l" t="t" r="r" b="b"/>
              <a:pathLst>
                <a:path w="1174118" h="1068263">
                  <a:moveTo>
                    <a:pt x="87918" y="0"/>
                  </a:moveTo>
                  <a:lnTo>
                    <a:pt x="1086201" y="0"/>
                  </a:lnTo>
                  <a:cubicBezTo>
                    <a:pt x="1109518" y="0"/>
                    <a:pt x="1131880" y="9263"/>
                    <a:pt x="1148368" y="25750"/>
                  </a:cubicBezTo>
                  <a:cubicBezTo>
                    <a:pt x="1164856" y="42238"/>
                    <a:pt x="1174118" y="64600"/>
                    <a:pt x="1174118" y="87918"/>
                  </a:cubicBezTo>
                  <a:lnTo>
                    <a:pt x="1174118" y="980345"/>
                  </a:lnTo>
                  <a:cubicBezTo>
                    <a:pt x="1174118" y="1003663"/>
                    <a:pt x="1164856" y="1026025"/>
                    <a:pt x="1148368" y="1042513"/>
                  </a:cubicBezTo>
                  <a:cubicBezTo>
                    <a:pt x="1131880" y="1059000"/>
                    <a:pt x="1109518" y="1068263"/>
                    <a:pt x="1086201" y="1068263"/>
                  </a:cubicBezTo>
                  <a:lnTo>
                    <a:pt x="87918" y="1068263"/>
                  </a:lnTo>
                  <a:cubicBezTo>
                    <a:pt x="64600" y="1068263"/>
                    <a:pt x="42238" y="1059000"/>
                    <a:pt x="25750" y="1042513"/>
                  </a:cubicBezTo>
                  <a:cubicBezTo>
                    <a:pt x="9263" y="1026025"/>
                    <a:pt x="0" y="1003663"/>
                    <a:pt x="0" y="980345"/>
                  </a:cubicBezTo>
                  <a:lnTo>
                    <a:pt x="0" y="87918"/>
                  </a:lnTo>
                  <a:cubicBezTo>
                    <a:pt x="0" y="64600"/>
                    <a:pt x="9263" y="42238"/>
                    <a:pt x="25750" y="25750"/>
                  </a:cubicBezTo>
                  <a:cubicBezTo>
                    <a:pt x="42238" y="9263"/>
                    <a:pt x="64600" y="0"/>
                    <a:pt x="87918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74118" cy="1106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8559" y="1537534"/>
            <a:ext cx="7926571" cy="7211932"/>
            <a:chOff x="0" y="0"/>
            <a:chExt cx="1174118" cy="10682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4118" cy="1068263"/>
            </a:xfrm>
            <a:custGeom>
              <a:avLst/>
              <a:gdLst/>
              <a:ahLst/>
              <a:cxnLst/>
              <a:rect l="l" t="t" r="r" b="b"/>
              <a:pathLst>
                <a:path w="1174118" h="1068263">
                  <a:moveTo>
                    <a:pt x="87918" y="0"/>
                  </a:moveTo>
                  <a:lnTo>
                    <a:pt x="1086201" y="0"/>
                  </a:lnTo>
                  <a:cubicBezTo>
                    <a:pt x="1109518" y="0"/>
                    <a:pt x="1131880" y="9263"/>
                    <a:pt x="1148368" y="25750"/>
                  </a:cubicBezTo>
                  <a:cubicBezTo>
                    <a:pt x="1164856" y="42238"/>
                    <a:pt x="1174118" y="64600"/>
                    <a:pt x="1174118" y="87918"/>
                  </a:cubicBezTo>
                  <a:lnTo>
                    <a:pt x="1174118" y="980345"/>
                  </a:lnTo>
                  <a:cubicBezTo>
                    <a:pt x="1174118" y="1003663"/>
                    <a:pt x="1164856" y="1026025"/>
                    <a:pt x="1148368" y="1042513"/>
                  </a:cubicBezTo>
                  <a:cubicBezTo>
                    <a:pt x="1131880" y="1059000"/>
                    <a:pt x="1109518" y="1068263"/>
                    <a:pt x="1086201" y="1068263"/>
                  </a:cubicBezTo>
                  <a:lnTo>
                    <a:pt x="87918" y="1068263"/>
                  </a:lnTo>
                  <a:cubicBezTo>
                    <a:pt x="64600" y="1068263"/>
                    <a:pt x="42238" y="1059000"/>
                    <a:pt x="25750" y="1042513"/>
                  </a:cubicBezTo>
                  <a:cubicBezTo>
                    <a:pt x="9263" y="1026025"/>
                    <a:pt x="0" y="1003663"/>
                    <a:pt x="0" y="980345"/>
                  </a:cubicBezTo>
                  <a:lnTo>
                    <a:pt x="0" y="87918"/>
                  </a:lnTo>
                  <a:cubicBezTo>
                    <a:pt x="0" y="64600"/>
                    <a:pt x="9263" y="42238"/>
                    <a:pt x="25750" y="25750"/>
                  </a:cubicBezTo>
                  <a:cubicBezTo>
                    <a:pt x="42238" y="9263"/>
                    <a:pt x="64600" y="0"/>
                    <a:pt x="87918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74118" cy="1106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62744" y="1718510"/>
            <a:ext cx="6158200" cy="130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6"/>
              </a:lnSpc>
              <a:spcBef>
                <a:spcPct val="0"/>
              </a:spcBef>
            </a:pPr>
            <a:r>
              <a:rPr lang="en-US" sz="4180" b="1" u="sng" spc="447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DECLARADO POR EL EQUIPO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14428" y="1718510"/>
            <a:ext cx="5245930" cy="1319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5"/>
              </a:lnSpc>
              <a:spcBef>
                <a:spcPct val="0"/>
              </a:spcBef>
            </a:pPr>
            <a:r>
              <a:rPr lang="en-US" sz="4270" b="1" u="sng" spc="456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COMPROBADO EN MATERIALES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0059" y="3874561"/>
            <a:ext cx="7343570" cy="343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5"/>
              </a:lnSpc>
              <a:spcBef>
                <a:spcPct val="0"/>
              </a:spcBef>
            </a:pPr>
            <a:r>
              <a:rPr lang="en-US" sz="3746" b="1" spc="400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HITO BACKEND CORE SEMANAS 5–8 COMPLETO: MODELO RELACIONAL, APIS BASE Y MÓDULO DE PRESCRIPCIÓN.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85885" y="3874561"/>
            <a:ext cx="7503015" cy="349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2"/>
              </a:lnSpc>
              <a:spcBef>
                <a:spcPct val="0"/>
              </a:spcBef>
            </a:pPr>
            <a:r>
              <a:rPr lang="en-US" sz="3827" b="1" spc="4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DOCUMENTOS DE VISIÓN, BACKLOG, DOD Y DISEÑO UML; REPOSITORIO CON FRONTEND WEB, API DJANGO Y MODELOS POSTGRESQL.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550114" y="1042988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-550114" y="10005303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87294" y="142875"/>
            <a:ext cx="181134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sz="4793" b="1" spc="5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 CON EL PERFIL DE EGRESO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01195" y="1196945"/>
            <a:ext cx="5487280" cy="8454375"/>
            <a:chOff x="0" y="0"/>
            <a:chExt cx="812800" cy="12522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252299"/>
            </a:xfrm>
            <a:custGeom>
              <a:avLst/>
              <a:gdLst/>
              <a:ahLst/>
              <a:cxnLst/>
              <a:rect l="l" t="t" r="r" b="b"/>
              <a:pathLst>
                <a:path w="812800" h="1252299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1125299"/>
                  </a:lnTo>
                  <a:cubicBezTo>
                    <a:pt x="812800" y="1195439"/>
                    <a:pt x="755940" y="1252299"/>
                    <a:pt x="685800" y="1252299"/>
                  </a:cubicBezTo>
                  <a:lnTo>
                    <a:pt x="127000" y="1252299"/>
                  </a:lnTo>
                  <a:cubicBezTo>
                    <a:pt x="93318" y="1252299"/>
                    <a:pt x="61015" y="1238919"/>
                    <a:pt x="37197" y="1215102"/>
                  </a:cubicBezTo>
                  <a:cubicBezTo>
                    <a:pt x="13380" y="1191284"/>
                    <a:pt x="0" y="1158981"/>
                    <a:pt x="0" y="1125299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1290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58543" y="1351810"/>
            <a:ext cx="5093175" cy="539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3569" b="1" spc="38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BENJAMÍN CELIS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3653" y="2089441"/>
            <a:ext cx="5484822" cy="779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800" b="1" u="sng" spc="286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PERFIL DE EGRESO</a:t>
            </a:r>
            <a:r>
              <a:rPr lang="en-US" sz="2800" b="1" spc="286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: DESARROLLAR SOLUCIONES TECNOLÓGICAS APLICANDO CONOCIMIENTOS DE SOFTWARE, CON FOCO E INTERÉS EN ROLES DE SCRUM MASTER Y EL SECTOR HEALTHTECH.</a:t>
            </a:r>
          </a:p>
          <a:p>
            <a:pPr algn="ctr">
              <a:lnSpc>
                <a:spcPts val="3213"/>
              </a:lnSpc>
            </a:pPr>
            <a:endParaRPr lang="en-US" sz="2800" b="1" spc="286" dirty="0">
              <a:solidFill>
                <a:srgbClr val="FFFFFF"/>
              </a:solidFill>
              <a:latin typeface="Arial" panose="020B0604020202020204" pitchFamily="34" charset="0"/>
              <a:ea typeface="Montserrat Bold"/>
              <a:cs typeface="Arial" panose="020B0604020202020204" pitchFamily="34" charset="0"/>
              <a:sym typeface="Montserrat Bold"/>
            </a:endParaRPr>
          </a:p>
          <a:p>
            <a:pPr algn="ctr">
              <a:lnSpc>
                <a:spcPts val="3213"/>
              </a:lnSpc>
            </a:pPr>
            <a:r>
              <a:rPr lang="en-US" sz="2800" b="1" u="sng" spc="286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VINCULACIÓN:</a:t>
            </a:r>
            <a:r>
              <a:rPr lang="en-US" sz="2800" b="1" spc="286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 </a:t>
            </a:r>
          </a:p>
          <a:p>
            <a:pPr algn="ctr">
              <a:lnSpc>
                <a:spcPts val="3213"/>
              </a:lnSpc>
            </a:pPr>
            <a:r>
              <a:rPr lang="en-US" sz="2800" b="1" spc="286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APORTÉ COLABORATIVAMENTE AL MODELADO DE LA BASE DE DATOS Y AL DESARROLLO DE LAS APIS.</a:t>
            </a:r>
          </a:p>
          <a:p>
            <a:pPr algn="ctr">
              <a:lnSpc>
                <a:spcPts val="3213"/>
              </a:lnSpc>
              <a:spcBef>
                <a:spcPct val="0"/>
              </a:spcBef>
            </a:pPr>
            <a:endParaRPr lang="en-US" sz="2677" b="1" spc="286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070632" y="1798158"/>
            <a:ext cx="7558825" cy="7251950"/>
          </a:xfrm>
          <a:custGeom>
            <a:avLst/>
            <a:gdLst/>
            <a:ahLst/>
            <a:cxnLst/>
            <a:rect l="l" t="t" r="r" b="b"/>
            <a:pathLst>
              <a:path w="7558825" h="7251950">
                <a:moveTo>
                  <a:pt x="0" y="0"/>
                </a:moveTo>
                <a:lnTo>
                  <a:pt x="7558825" y="0"/>
                </a:lnTo>
                <a:lnTo>
                  <a:pt x="7558825" y="7251950"/>
                </a:lnTo>
                <a:lnTo>
                  <a:pt x="0" y="7251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550114" y="1042988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-550114" y="10005303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87294" y="142875"/>
            <a:ext cx="181134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sz="4793" b="1" spc="5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 CON EL PERFIL DE EGRESO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05473" y="1296958"/>
            <a:ext cx="5487280" cy="8454375"/>
            <a:chOff x="0" y="0"/>
            <a:chExt cx="812800" cy="12522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252299"/>
            </a:xfrm>
            <a:custGeom>
              <a:avLst/>
              <a:gdLst/>
              <a:ahLst/>
              <a:cxnLst/>
              <a:rect l="l" t="t" r="r" b="b"/>
              <a:pathLst>
                <a:path w="812800" h="1252299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1125299"/>
                  </a:lnTo>
                  <a:cubicBezTo>
                    <a:pt x="812800" y="1195439"/>
                    <a:pt x="755940" y="1252299"/>
                    <a:pt x="685800" y="1252299"/>
                  </a:cubicBezTo>
                  <a:lnTo>
                    <a:pt x="127000" y="1252299"/>
                  </a:lnTo>
                  <a:cubicBezTo>
                    <a:pt x="93318" y="1252299"/>
                    <a:pt x="61015" y="1238919"/>
                    <a:pt x="37197" y="1215102"/>
                  </a:cubicBezTo>
                  <a:cubicBezTo>
                    <a:pt x="13380" y="1191284"/>
                    <a:pt x="0" y="1158981"/>
                    <a:pt x="0" y="1125299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1290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44355" y="1486950"/>
            <a:ext cx="5009515" cy="539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3569" b="1" spc="38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NICOLÁS MELLA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6701" y="2464099"/>
            <a:ext cx="5484822" cy="6976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7" b="1" u="sng" spc="28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 DE EGRESO</a:t>
            </a:r>
            <a:r>
              <a:rPr lang="en-US" sz="2677" b="1" spc="28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DESARROLLO FRONTEND Y DISEÑO UX/UI. ESPECIALIZADO EN </a:t>
            </a:r>
            <a:r>
              <a:rPr lang="en-US" sz="2800" b="1" spc="28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INTERFACES</a:t>
            </a:r>
            <a:r>
              <a:rPr lang="en-US" sz="2677" b="1" spc="28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WEB RESPONSIVAS E INTEGRACIÓN DE VISTAS CON APIs REST.</a:t>
            </a:r>
          </a:p>
          <a:p>
            <a:pPr algn="ctr">
              <a:lnSpc>
                <a:spcPts val="3213"/>
              </a:lnSpc>
            </a:pPr>
            <a:endParaRPr lang="en-US" sz="2677" b="1" spc="286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213"/>
              </a:lnSpc>
            </a:pPr>
            <a:r>
              <a:rPr lang="en-US" sz="2677" b="1" u="sng" spc="28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</a:t>
            </a:r>
            <a:r>
              <a:rPr lang="en-US" sz="2677" b="1" spc="28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</a:p>
          <a:p>
            <a:pPr algn="ctr">
              <a:lnSpc>
                <a:spcPts val="3213"/>
              </a:lnSpc>
            </a:pPr>
            <a:r>
              <a:rPr lang="en-US" sz="2677" b="1" spc="286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DISEÑÉ EL PORTAL CLÍNICO DE KINECONECT (VINCULACIÓN POR RUT Y CATÁLOGOS VISUALES), ELIMINANDO EL USO DE PAUTAS EN PAPEL.</a:t>
            </a:r>
          </a:p>
          <a:p>
            <a:pPr algn="ctr">
              <a:lnSpc>
                <a:spcPts val="3213"/>
              </a:lnSpc>
              <a:spcBef>
                <a:spcPct val="0"/>
              </a:spcBef>
            </a:pPr>
            <a:endParaRPr lang="en-US" sz="2677" b="1" spc="286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741771" y="1444313"/>
            <a:ext cx="6761633" cy="7959640"/>
          </a:xfrm>
          <a:custGeom>
            <a:avLst/>
            <a:gdLst/>
            <a:ahLst/>
            <a:cxnLst/>
            <a:rect l="l" t="t" r="r" b="b"/>
            <a:pathLst>
              <a:path w="6761633" h="7959640">
                <a:moveTo>
                  <a:pt x="0" y="0"/>
                </a:moveTo>
                <a:lnTo>
                  <a:pt x="6761633" y="0"/>
                </a:lnTo>
                <a:lnTo>
                  <a:pt x="6761633" y="7959640"/>
                </a:lnTo>
                <a:lnTo>
                  <a:pt x="0" y="7959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H="1">
            <a:off x="-550114" y="1042988"/>
            <a:ext cx="19388227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-550114" y="10005303"/>
            <a:ext cx="24740282" cy="0"/>
          </a:xfrm>
          <a:prstGeom prst="line">
            <a:avLst/>
          </a:prstGeom>
          <a:ln w="28575" cap="flat">
            <a:solidFill>
              <a:srgbClr val="EDEF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87294" y="142875"/>
            <a:ext cx="181134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sz="4793" b="1" spc="5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 CON EL PERFIL DE EGRESO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19136" y="1166224"/>
            <a:ext cx="5487280" cy="8454375"/>
            <a:chOff x="0" y="0"/>
            <a:chExt cx="812800" cy="12522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252299"/>
            </a:xfrm>
            <a:custGeom>
              <a:avLst/>
              <a:gdLst/>
              <a:ahLst/>
              <a:cxnLst/>
              <a:rect l="l" t="t" r="r" b="b"/>
              <a:pathLst>
                <a:path w="812800" h="1252299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1125299"/>
                  </a:lnTo>
                  <a:cubicBezTo>
                    <a:pt x="812800" y="1195439"/>
                    <a:pt x="755940" y="1252299"/>
                    <a:pt x="685800" y="1252299"/>
                  </a:cubicBezTo>
                  <a:lnTo>
                    <a:pt x="127000" y="1252299"/>
                  </a:lnTo>
                  <a:cubicBezTo>
                    <a:pt x="93318" y="1252299"/>
                    <a:pt x="61015" y="1238919"/>
                    <a:pt x="37197" y="1215102"/>
                  </a:cubicBezTo>
                  <a:cubicBezTo>
                    <a:pt x="13380" y="1191284"/>
                    <a:pt x="0" y="1158981"/>
                    <a:pt x="0" y="1125299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B1B3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1290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54916" y="1296199"/>
            <a:ext cx="4015719" cy="539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3569" b="1" spc="38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MATÍAS </a:t>
            </a:r>
            <a:r>
              <a:rPr lang="en-US" sz="3569" b="1" spc="381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SÁEZ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19136" y="2019300"/>
            <a:ext cx="5489557" cy="745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</a:pPr>
            <a:r>
              <a:rPr lang="es-MX" sz="2800" b="1" u="sng" spc="279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PERFIL DE EGRESO:</a:t>
            </a:r>
          </a:p>
          <a:p>
            <a:pPr algn="ctr">
              <a:lnSpc>
                <a:spcPts val="3136"/>
              </a:lnSpc>
            </a:pPr>
            <a:r>
              <a:rPr lang="es-MX" sz="2800" b="1" spc="279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APLICAR HABILIDADES DE ANÁLISIS Y ORGANIZACIÓN DE INFORMACIÓN EN EL DESARROLLO DE SOLUCIONES TECNOLÓGICAS.</a:t>
            </a:r>
            <a:endParaRPr lang="en-US" sz="2800" b="1" spc="279" dirty="0">
              <a:solidFill>
                <a:srgbClr val="FFFFFF"/>
              </a:solidFill>
              <a:latin typeface="Arial" panose="020B0604020202020204" pitchFamily="34" charset="0"/>
              <a:ea typeface="Montserrat Bold"/>
              <a:cs typeface="Arial" panose="020B0604020202020204" pitchFamily="34" charset="0"/>
              <a:sym typeface="Montserrat Bold"/>
            </a:endParaRPr>
          </a:p>
          <a:p>
            <a:pPr algn="ctr">
              <a:lnSpc>
                <a:spcPts val="3136"/>
              </a:lnSpc>
            </a:pPr>
            <a:endParaRPr lang="en-US" sz="2800" b="1" spc="279" dirty="0">
              <a:solidFill>
                <a:srgbClr val="FFFFFF"/>
              </a:solidFill>
              <a:latin typeface="Arial" panose="020B0604020202020204" pitchFamily="34" charset="0"/>
              <a:ea typeface="Montserrat Bold"/>
              <a:cs typeface="Arial" panose="020B0604020202020204" pitchFamily="34" charset="0"/>
              <a:sym typeface="Montserrat Bold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s-MX" sz="2800" b="1" u="sng" spc="279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VINCULACIÓN</a:t>
            </a:r>
            <a:r>
              <a:rPr lang="es-MX" sz="2800" b="1" spc="279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: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s-MX" sz="2800" b="1" spc="279" dirty="0">
                <a:solidFill>
                  <a:srgbClr val="FFFF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ORGANICÉ Y ESTRUCTURÉ LA DOCUMENTACIÓN CLAVE DE KINECONECT, APLICANDO TÉCNICAS DE ANÁLISIS DE DATOS Y GESTIÓN DE INFORMACIÓN.</a:t>
            </a:r>
            <a:endParaRPr lang="en-US" sz="2800" b="1" spc="279" dirty="0">
              <a:solidFill>
                <a:srgbClr val="FFFFFF"/>
              </a:solidFill>
              <a:latin typeface="Arial" panose="020B0604020202020204" pitchFamily="34" charset="0"/>
              <a:ea typeface="Montserrat Bold"/>
              <a:cs typeface="Arial" panose="020B0604020202020204" pitchFamily="34" charset="0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839814" y="1892532"/>
            <a:ext cx="6080842" cy="7263228"/>
          </a:xfrm>
          <a:custGeom>
            <a:avLst/>
            <a:gdLst/>
            <a:ahLst/>
            <a:cxnLst/>
            <a:rect l="l" t="t" r="r" b="b"/>
            <a:pathLst>
              <a:path w="6080842" h="7263228">
                <a:moveTo>
                  <a:pt x="0" y="0"/>
                </a:moveTo>
                <a:lnTo>
                  <a:pt x="6080842" y="0"/>
                </a:lnTo>
                <a:lnTo>
                  <a:pt x="6080842" y="7263228"/>
                </a:lnTo>
                <a:lnTo>
                  <a:pt x="0" y="7263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452</Words>
  <Application>Microsoft Office PowerPoint</Application>
  <PresentationFormat>Personalizado</PresentationFormat>
  <Paragraphs>57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Montserrat Ultra-Bold</vt:lpstr>
      <vt:lpstr>Arial</vt:lpstr>
      <vt:lpstr>Arial Bold</vt:lpstr>
      <vt:lpstr>Calibri</vt:lpstr>
      <vt:lpstr>Montserrat Semi-Bold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Benjamín Celis — Product Owner / Full Stack Developer Matías Sáez — Backend Developer &amp; Data Lead Nicolás Mella — Frontend Developer &amp; UI/UX</dc:title>
  <dc:creator>John wick F</dc:creator>
  <cp:lastModifiedBy>MATIAS NICOLAS SAEZ CARRASCO</cp:lastModifiedBy>
  <cp:revision>2</cp:revision>
  <dcterms:created xsi:type="dcterms:W3CDTF">2006-08-16T00:00:00Z</dcterms:created>
  <dcterms:modified xsi:type="dcterms:W3CDTF">2026-10-18T22:34:01Z</dcterms:modified>
  <dc:identifier>DAHYNhXj7mI</dc:identifier>
</cp:coreProperties>
</file>