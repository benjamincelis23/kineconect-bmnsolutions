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Chewy" charset="1" panose="02000000000000000000"/>
      <p:regular r:id="rId20"/>
    </p:embeddedFont>
    <p:embeddedFont>
      <p:font typeface="Open Sans Light" charset="1" panose="00000000000000000000"/>
      <p:regular r:id="rId21"/>
    </p:embeddedFont>
    <p:embeddedFont>
      <p:font typeface="Inter" charset="1" panose="020B0502030000000004"/>
      <p:regular r:id="rId22"/>
    </p:embeddedFont>
    <p:embeddedFont>
      <p:font typeface="Inter Bold" charset="1" panose="020B0802030000000004"/>
      <p:regular r:id="rId23"/>
    </p:embeddedFont>
    <p:embeddedFont>
      <p:font typeface="DM Sans Bold" charset="1" panose="00000000000000000000"/>
      <p:regular r:id="rId24"/>
    </p:embeddedFont>
    <p:embeddedFont>
      <p:font typeface="Canva Sans Bold" charset="1" panose="020B0803030501040103"/>
      <p:regular r:id="rId25"/>
    </p:embeddedFont>
    <p:embeddedFont>
      <p:font typeface="Canva Sans" charset="1" panose="020B0503030501040103"/>
      <p:regular r:id="rId26"/>
    </p:embeddedFont>
    <p:embeddedFont>
      <p:font typeface="Open Sans Bold" charset="1" panose="00000000000000000000"/>
      <p:regular r:id="rId27"/>
    </p:embeddedFont>
    <p:embeddedFont>
      <p:font typeface="Open Sans" charset="1" panose="000000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sp>
        <p:nvSpPr>
          <p:cNvPr name="AutoShape 3" id="3"/>
          <p:cNvSpPr/>
          <p:nvPr/>
        </p:nvSpPr>
        <p:spPr>
          <a:xfrm rot="0">
            <a:off x="1140037" y="3092063"/>
            <a:ext cx="16007927" cy="3964452"/>
          </a:xfrm>
          <a:prstGeom prst="rect">
            <a:avLst/>
          </a:prstGeom>
          <a:solidFill>
            <a:srgbClr val="94D3C8"/>
          </a:solidFill>
        </p:spPr>
      </p:sp>
      <p:grpSp>
        <p:nvGrpSpPr>
          <p:cNvPr name="Group 4" id="4"/>
          <p:cNvGrpSpPr/>
          <p:nvPr/>
        </p:nvGrpSpPr>
        <p:grpSpPr>
          <a:xfrm rot="0">
            <a:off x="1724140" y="650651"/>
            <a:ext cx="14839720" cy="8985697"/>
            <a:chOff x="0" y="0"/>
            <a:chExt cx="4349566" cy="263373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349566" cy="2633735"/>
            </a:xfrm>
            <a:custGeom>
              <a:avLst/>
              <a:gdLst/>
              <a:ahLst/>
              <a:cxnLst/>
              <a:rect r="r" b="b" t="t" l="l"/>
              <a:pathLst>
                <a:path h="2633735" w="4349566">
                  <a:moveTo>
                    <a:pt x="0" y="0"/>
                  </a:moveTo>
                  <a:lnTo>
                    <a:pt x="4349566" y="0"/>
                  </a:lnTo>
                  <a:lnTo>
                    <a:pt x="4349566" y="2633735"/>
                  </a:lnTo>
                  <a:lnTo>
                    <a:pt x="0" y="2633735"/>
                  </a:lnTo>
                  <a:close/>
                </a:path>
              </a:pathLst>
            </a:custGeom>
            <a:ln w="66675" cap="sq">
              <a:solidFill>
                <a:srgbClr val="94D3C8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349566" cy="2671835"/>
            </a:xfrm>
            <a:prstGeom prst="rect">
              <a:avLst/>
            </a:prstGeom>
          </p:spPr>
          <p:txBody>
            <a:bodyPr anchor="ctr" rtlCol="false" tIns="48876" lIns="48876" bIns="48876" rIns="48876"/>
            <a:lstStyle/>
            <a:p>
              <a:pPr algn="ctr">
                <a:lnSpc>
                  <a:spcPts val="1588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6507682" y="3477787"/>
            <a:ext cx="6698693" cy="2363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15"/>
              </a:lnSpc>
            </a:pPr>
            <a:r>
              <a:rPr lang="en-US" sz="8378">
                <a:solidFill>
                  <a:srgbClr val="FFFFFF"/>
                </a:solidFill>
                <a:latin typeface="Chewy"/>
                <a:ea typeface="Chewy"/>
                <a:cs typeface="Chewy"/>
                <a:sym typeface="Chewy"/>
              </a:rPr>
              <a:t>Proyecto </a:t>
            </a:r>
            <a:r>
              <a:rPr lang="en-US" sz="8378">
                <a:solidFill>
                  <a:srgbClr val="FFFFFF"/>
                </a:solidFill>
                <a:latin typeface="Chewy"/>
                <a:ea typeface="Chewy"/>
                <a:cs typeface="Chewy"/>
                <a:sym typeface="Chewy"/>
              </a:rPr>
              <a:t>Kineconnect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431283" y="6041375"/>
            <a:ext cx="7425433" cy="35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6"/>
              </a:lnSpc>
            </a:pPr>
            <a:r>
              <a:rPr lang="en-US" sz="2047">
                <a:solidFill>
                  <a:srgbClr val="00000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INTEGRANTES: MATIAS SAÉZ, NICOLAS MELLA, BENJAMÍN CELIS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7239000" y="952500"/>
            <a:ext cx="3810000" cy="0"/>
          </a:xfrm>
          <a:prstGeom prst="line">
            <a:avLst/>
          </a:prstGeom>
          <a:ln cap="flat" w="28575">
            <a:solidFill>
              <a:srgbClr val="94D3C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2476500" y="1181100"/>
            <a:ext cx="13335000" cy="84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79"/>
              </a:lnSpc>
            </a:pPr>
            <a:r>
              <a:rPr lang="en-US" sz="5799">
                <a:solidFill>
                  <a:srgbClr val="FFFFFF"/>
                </a:solidFill>
                <a:latin typeface="Chewy"/>
                <a:ea typeface="Chewy"/>
                <a:cs typeface="Chewy"/>
                <a:sym typeface="Chewy"/>
              </a:rPr>
              <a:t>Contexto Clínico y Problema Central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381500" y="2133600"/>
            <a:ext cx="9525000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94D3C8"/>
                </a:solidFill>
                <a:latin typeface="Inter"/>
                <a:ea typeface="Inter"/>
                <a:cs typeface="Inter"/>
                <a:sym typeface="Inter"/>
              </a:rPr>
              <a:t>Tres desafíos clave que enfrenta la kinesiología tradicional</a:t>
            </a:r>
          </a:p>
        </p:txBody>
      </p:sp>
      <p:sp>
        <p:nvSpPr>
          <p:cNvPr name="AutoShape 6" id="6"/>
          <p:cNvSpPr/>
          <p:nvPr/>
        </p:nvSpPr>
        <p:spPr>
          <a:xfrm>
            <a:off x="8001000" y="2638425"/>
            <a:ext cx="2286000" cy="0"/>
          </a:xfrm>
          <a:prstGeom prst="line">
            <a:avLst/>
          </a:prstGeom>
          <a:ln cap="flat" w="19050">
            <a:solidFill>
              <a:srgbClr val="94D3C8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762000" y="3619500"/>
            <a:ext cx="5334000" cy="4572000"/>
            <a:chOff x="0" y="0"/>
            <a:chExt cx="7112000" cy="609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112000" cy="6096000"/>
            </a:xfrm>
            <a:custGeom>
              <a:avLst/>
              <a:gdLst/>
              <a:ahLst/>
              <a:cxnLst/>
              <a:rect r="r" b="b" t="t" l="l"/>
              <a:pathLst>
                <a:path h="6096000" w="7112000">
                  <a:moveTo>
                    <a:pt x="609600" y="0"/>
                  </a:moveTo>
                  <a:lnTo>
                    <a:pt x="6502400" y="0"/>
                  </a:lnTo>
                  <a:cubicBezTo>
                    <a:pt x="6839072" y="0"/>
                    <a:pt x="7112000" y="272927"/>
                    <a:pt x="7112000" y="609600"/>
                  </a:cubicBezTo>
                  <a:lnTo>
                    <a:pt x="7112000" y="5486400"/>
                  </a:lnTo>
                  <a:cubicBezTo>
                    <a:pt x="7112000" y="5823073"/>
                    <a:pt x="6839072" y="6096000"/>
                    <a:pt x="6502400" y="6096000"/>
                  </a:cubicBezTo>
                  <a:lnTo>
                    <a:pt x="609600" y="6096000"/>
                  </a:lnTo>
                  <a:cubicBezTo>
                    <a:pt x="272927" y="6096000"/>
                    <a:pt x="0" y="5823073"/>
                    <a:pt x="0" y="5486400"/>
                  </a:cubicBezTo>
                  <a:lnTo>
                    <a:pt x="0" y="609600"/>
                  </a:ln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FFFFFF">
                <a:alpha val="11765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7112000" cy="613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124200" y="3905250"/>
            <a:ext cx="609600" cy="609600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3124200" y="4023677"/>
            <a:ext cx="609600" cy="4374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7"/>
              </a:lnSpc>
            </a:pPr>
            <a:r>
              <a:rPr lang="en-US" b="true" sz="3347">
                <a:solidFill>
                  <a:srgbClr val="1A5C48"/>
                </a:solidFill>
                <a:latin typeface="Inter Bold"/>
                <a:ea typeface="Inter Bold"/>
                <a:cs typeface="Inter Bold"/>
                <a:sym typeface="Inter Bold"/>
              </a:rPr>
              <a:t>01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66800" y="4724400"/>
            <a:ext cx="4724400" cy="843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0"/>
              </a:lnSpc>
            </a:pPr>
            <a:r>
              <a:rPr lang="en-US" b="true" sz="260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Obsolescencia</a:t>
            </a:r>
          </a:p>
          <a:p>
            <a:pPr algn="ctr">
              <a:lnSpc>
                <a:spcPts val="3380"/>
              </a:lnSpc>
            </a:pPr>
            <a:r>
              <a:rPr lang="en-US" b="true" sz="260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del Papel</a:t>
            </a:r>
          </a:p>
        </p:txBody>
      </p:sp>
      <p:sp>
        <p:nvSpPr>
          <p:cNvPr name="AutoShape 15" id="15"/>
          <p:cNvSpPr/>
          <p:nvPr/>
        </p:nvSpPr>
        <p:spPr>
          <a:xfrm>
            <a:off x="1447800" y="5724525"/>
            <a:ext cx="3962400" cy="0"/>
          </a:xfrm>
          <a:prstGeom prst="line">
            <a:avLst/>
          </a:prstGeom>
          <a:ln cap="flat" w="9525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6" id="16"/>
          <p:cNvSpPr txBox="true"/>
          <p:nvPr/>
        </p:nvSpPr>
        <p:spPr>
          <a:xfrm rot="0">
            <a:off x="1066800" y="5867400"/>
            <a:ext cx="4724400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0"/>
              </a:lnSpc>
            </a:pPr>
            <a:r>
              <a:rPr lang="en-US" sz="1700">
                <a:solidFill>
                  <a:srgbClr val="FFFFFF">
                    <a:alpha val="89804"/>
                  </a:srgbClr>
                </a:solidFill>
                <a:latin typeface="Inter"/>
                <a:ea typeface="Inter"/>
                <a:cs typeface="Inter"/>
                <a:sym typeface="Inter"/>
              </a:rPr>
              <a:t>Las pautas en papel carecen de dinamismo y no ofrecen retroalimentación postural ni temporal.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477000" y="3676650"/>
            <a:ext cx="5334000" cy="4514850"/>
            <a:chOff x="0" y="0"/>
            <a:chExt cx="7112000" cy="6019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12000" cy="6019800"/>
            </a:xfrm>
            <a:custGeom>
              <a:avLst/>
              <a:gdLst/>
              <a:ahLst/>
              <a:cxnLst/>
              <a:rect r="r" b="b" t="t" l="l"/>
              <a:pathLst>
                <a:path h="6019800" w="7112000">
                  <a:moveTo>
                    <a:pt x="609600" y="0"/>
                  </a:moveTo>
                  <a:lnTo>
                    <a:pt x="6502400" y="0"/>
                  </a:lnTo>
                  <a:cubicBezTo>
                    <a:pt x="6839072" y="0"/>
                    <a:pt x="7112000" y="269516"/>
                    <a:pt x="7112000" y="601980"/>
                  </a:cubicBezTo>
                  <a:lnTo>
                    <a:pt x="7112000" y="5417820"/>
                  </a:lnTo>
                  <a:cubicBezTo>
                    <a:pt x="7112000" y="5750284"/>
                    <a:pt x="6839072" y="6019800"/>
                    <a:pt x="6502400" y="6019800"/>
                  </a:cubicBezTo>
                  <a:lnTo>
                    <a:pt x="609600" y="6019800"/>
                  </a:lnTo>
                  <a:cubicBezTo>
                    <a:pt x="272927" y="6019800"/>
                    <a:pt x="0" y="5750284"/>
                    <a:pt x="0" y="5417820"/>
                  </a:cubicBezTo>
                  <a:lnTo>
                    <a:pt x="0" y="601980"/>
                  </a:lnTo>
                  <a:cubicBezTo>
                    <a:pt x="0" y="269516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FFFFFF">
                <a:alpha val="11765"/>
              </a:srgbClr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12000" cy="6057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839200" y="3905250"/>
            <a:ext cx="609600" cy="609600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8839200" y="4023360"/>
            <a:ext cx="609600" cy="437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39"/>
              </a:lnSpc>
            </a:pPr>
            <a:r>
              <a:rPr lang="en-US" b="true" sz="3339">
                <a:solidFill>
                  <a:srgbClr val="1A5C48"/>
                </a:solidFill>
                <a:latin typeface="Inter Bold"/>
                <a:ea typeface="Inter Bold"/>
                <a:cs typeface="Inter Bold"/>
                <a:sym typeface="Inter Bold"/>
              </a:rPr>
              <a:t>02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781800" y="4724400"/>
            <a:ext cx="4724400" cy="843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0"/>
              </a:lnSpc>
            </a:pPr>
            <a:r>
              <a:rPr lang="en-US" b="true" sz="260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Baja Adherencia</a:t>
            </a:r>
          </a:p>
          <a:p>
            <a:pPr algn="ctr">
              <a:lnSpc>
                <a:spcPts val="3380"/>
              </a:lnSpc>
            </a:pPr>
            <a:r>
              <a:rPr lang="en-US" b="true" sz="260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Terapéutica</a:t>
            </a:r>
          </a:p>
        </p:txBody>
      </p:sp>
      <p:sp>
        <p:nvSpPr>
          <p:cNvPr name="AutoShape 25" id="25"/>
          <p:cNvSpPr/>
          <p:nvPr/>
        </p:nvSpPr>
        <p:spPr>
          <a:xfrm>
            <a:off x="7162800" y="5724525"/>
            <a:ext cx="3962400" cy="0"/>
          </a:xfrm>
          <a:prstGeom prst="line">
            <a:avLst/>
          </a:prstGeom>
          <a:ln cap="flat" w="9525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6781800" y="5867400"/>
            <a:ext cx="4724400" cy="630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0"/>
              </a:lnSpc>
            </a:pPr>
            <a:r>
              <a:rPr lang="en-US" sz="1700">
                <a:solidFill>
                  <a:srgbClr val="FFFFFF">
                    <a:alpha val="89804"/>
                  </a:srgbClr>
                </a:solidFill>
                <a:latin typeface="Inter"/>
                <a:ea typeface="Inter"/>
                <a:cs typeface="Inter"/>
                <a:sym typeface="Inter"/>
              </a:rPr>
              <a:t>Los pacientes interrumpen o ejecutan mal sus rutinas por falta de guía y motivación.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192000" y="3619500"/>
            <a:ext cx="5334000" cy="4572000"/>
            <a:chOff x="0" y="0"/>
            <a:chExt cx="7112000" cy="6096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112000" cy="6096000"/>
            </a:xfrm>
            <a:custGeom>
              <a:avLst/>
              <a:gdLst/>
              <a:ahLst/>
              <a:cxnLst/>
              <a:rect r="r" b="b" t="t" l="l"/>
              <a:pathLst>
                <a:path h="6096000" w="7112000">
                  <a:moveTo>
                    <a:pt x="609600" y="0"/>
                  </a:moveTo>
                  <a:lnTo>
                    <a:pt x="6502400" y="0"/>
                  </a:lnTo>
                  <a:cubicBezTo>
                    <a:pt x="6839072" y="0"/>
                    <a:pt x="7112000" y="272927"/>
                    <a:pt x="7112000" y="609600"/>
                  </a:cubicBezTo>
                  <a:lnTo>
                    <a:pt x="7112000" y="5486400"/>
                  </a:lnTo>
                  <a:cubicBezTo>
                    <a:pt x="7112000" y="5823073"/>
                    <a:pt x="6839072" y="6096000"/>
                    <a:pt x="6502400" y="6096000"/>
                  </a:cubicBezTo>
                  <a:lnTo>
                    <a:pt x="609600" y="6096000"/>
                  </a:lnTo>
                  <a:cubicBezTo>
                    <a:pt x="272927" y="6096000"/>
                    <a:pt x="0" y="5823073"/>
                    <a:pt x="0" y="5486400"/>
                  </a:cubicBezTo>
                  <a:lnTo>
                    <a:pt x="0" y="609600"/>
                  </a:lnTo>
                  <a:cubicBezTo>
                    <a:pt x="0" y="272927"/>
                    <a:pt x="272927" y="0"/>
                    <a:pt x="609600" y="0"/>
                  </a:cubicBezTo>
                  <a:close/>
                </a:path>
              </a:pathLst>
            </a:custGeom>
            <a:solidFill>
              <a:srgbClr val="FFFFFF">
                <a:alpha val="11765"/>
              </a:srgbClr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7112000" cy="613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4554200" y="3905250"/>
            <a:ext cx="609600" cy="609600"/>
            <a:chOff x="0" y="0"/>
            <a:chExt cx="812800" cy="812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4554200" y="4026852"/>
            <a:ext cx="609600" cy="437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b="true" sz="3359">
                <a:solidFill>
                  <a:srgbClr val="1A5C48"/>
                </a:solidFill>
                <a:latin typeface="Inter Bold"/>
                <a:ea typeface="Inter Bold"/>
                <a:cs typeface="Inter Bold"/>
                <a:sym typeface="Inter Bold"/>
              </a:rPr>
              <a:t>03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496800" y="4724400"/>
            <a:ext cx="4724400" cy="843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0"/>
              </a:lnSpc>
            </a:pPr>
            <a:r>
              <a:rPr lang="en-US" b="true" sz="260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Pérdida de</a:t>
            </a:r>
          </a:p>
          <a:p>
            <a:pPr algn="ctr">
              <a:lnSpc>
                <a:spcPts val="3380"/>
              </a:lnSpc>
            </a:pPr>
            <a:r>
              <a:rPr lang="en-US" b="true" sz="260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Trazabilidad</a:t>
            </a:r>
          </a:p>
        </p:txBody>
      </p:sp>
      <p:sp>
        <p:nvSpPr>
          <p:cNvPr name="AutoShape 35" id="35"/>
          <p:cNvSpPr/>
          <p:nvPr/>
        </p:nvSpPr>
        <p:spPr>
          <a:xfrm>
            <a:off x="12877800" y="5724525"/>
            <a:ext cx="3962400" cy="0"/>
          </a:xfrm>
          <a:prstGeom prst="line">
            <a:avLst/>
          </a:prstGeom>
          <a:ln cap="flat" w="9525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6" id="36"/>
          <p:cNvSpPr txBox="true"/>
          <p:nvPr/>
        </p:nvSpPr>
        <p:spPr>
          <a:xfrm rot="0">
            <a:off x="12496800" y="5867400"/>
            <a:ext cx="4724400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0"/>
              </a:lnSpc>
            </a:pPr>
            <a:r>
              <a:rPr lang="en-US" sz="1700">
                <a:solidFill>
                  <a:srgbClr val="FFFFFF">
                    <a:alpha val="89804"/>
                  </a:srgbClr>
                </a:solidFill>
                <a:latin typeface="Inter"/>
                <a:ea typeface="Inter"/>
                <a:cs typeface="Inter"/>
                <a:sym typeface="Inter"/>
              </a:rPr>
              <a:t>El profesional no cuenta con métricas objetivas sobre cumplimiento ni niveles de dolor.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285750" y="285750"/>
            <a:ext cx="571500" cy="28575"/>
            <a:chOff x="0" y="0"/>
            <a:chExt cx="762000" cy="381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285750" y="285750"/>
            <a:ext cx="28575" cy="571500"/>
            <a:chOff x="0" y="0"/>
            <a:chExt cx="38100" cy="7620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8100" cy="762000"/>
            </a:xfrm>
            <a:custGeom>
              <a:avLst/>
              <a:gdLst/>
              <a:ahLst/>
              <a:cxnLst/>
              <a:rect r="r" b="b" t="t" l="l"/>
              <a:pathLst>
                <a:path h="762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381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7430750" y="285750"/>
            <a:ext cx="571500" cy="28575"/>
            <a:chOff x="0" y="0"/>
            <a:chExt cx="762000" cy="381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7973675" y="285750"/>
            <a:ext cx="28575" cy="571500"/>
            <a:chOff x="0" y="0"/>
            <a:chExt cx="38100" cy="762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8100" cy="762000"/>
            </a:xfrm>
            <a:custGeom>
              <a:avLst/>
              <a:gdLst/>
              <a:ahLst/>
              <a:cxnLst/>
              <a:rect r="r" b="b" t="t" l="l"/>
              <a:pathLst>
                <a:path h="762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81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285750" y="9972675"/>
            <a:ext cx="571500" cy="28575"/>
            <a:chOff x="0" y="0"/>
            <a:chExt cx="762000" cy="381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285750" y="9429750"/>
            <a:ext cx="28575" cy="571500"/>
            <a:chOff x="0" y="0"/>
            <a:chExt cx="38100" cy="7620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8100" cy="762000"/>
            </a:xfrm>
            <a:custGeom>
              <a:avLst/>
              <a:gdLst/>
              <a:ahLst/>
              <a:cxnLst/>
              <a:rect r="r" b="b" t="t" l="l"/>
              <a:pathLst>
                <a:path h="762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381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7430750" y="9972675"/>
            <a:ext cx="571500" cy="28575"/>
            <a:chOff x="0" y="0"/>
            <a:chExt cx="762000" cy="381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7973675" y="9429750"/>
            <a:ext cx="28575" cy="571500"/>
            <a:chOff x="0" y="0"/>
            <a:chExt cx="38100" cy="7620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8100" cy="762000"/>
            </a:xfrm>
            <a:custGeom>
              <a:avLst/>
              <a:gdLst/>
              <a:ahLst/>
              <a:cxnLst/>
              <a:rect r="r" b="b" t="t" l="l"/>
              <a:pathLst>
                <a:path h="762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762000"/>
                  </a:lnTo>
                  <a:lnTo>
                    <a:pt x="0" y="762000"/>
                  </a:ln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381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10878" y="556070"/>
            <a:ext cx="17466244" cy="9429510"/>
            <a:chOff x="0" y="0"/>
            <a:chExt cx="23288325" cy="12572680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0"/>
              <a:ext cx="23288325" cy="12572680"/>
              <a:chOff x="0" y="0"/>
              <a:chExt cx="4600163" cy="2483492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4600163" cy="2483492"/>
              </a:xfrm>
              <a:custGeom>
                <a:avLst/>
                <a:gdLst/>
                <a:ahLst/>
                <a:cxnLst/>
                <a:rect r="r" b="b" t="t" l="l"/>
                <a:pathLst>
                  <a:path h="2483492" w="4600163">
                    <a:moveTo>
                      <a:pt x="31471" y="0"/>
                    </a:moveTo>
                    <a:lnTo>
                      <a:pt x="4568692" y="0"/>
                    </a:lnTo>
                    <a:cubicBezTo>
                      <a:pt x="4586073" y="0"/>
                      <a:pt x="4600163" y="14090"/>
                      <a:pt x="4600163" y="31471"/>
                    </a:cubicBezTo>
                    <a:lnTo>
                      <a:pt x="4600163" y="2452022"/>
                    </a:lnTo>
                    <a:cubicBezTo>
                      <a:pt x="4600163" y="2469402"/>
                      <a:pt x="4586073" y="2483492"/>
                      <a:pt x="4568692" y="2483492"/>
                    </a:cubicBezTo>
                    <a:lnTo>
                      <a:pt x="31471" y="2483492"/>
                    </a:lnTo>
                    <a:cubicBezTo>
                      <a:pt x="14090" y="2483492"/>
                      <a:pt x="0" y="2469402"/>
                      <a:pt x="0" y="2452022"/>
                    </a:cubicBezTo>
                    <a:lnTo>
                      <a:pt x="0" y="31471"/>
                    </a:lnTo>
                    <a:cubicBezTo>
                      <a:pt x="0" y="14090"/>
                      <a:pt x="14090" y="0"/>
                      <a:pt x="3147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0" y="-47625"/>
                <a:ext cx="4600163" cy="25311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23"/>
                  </a:lnSpc>
                </a:pPr>
              </a:p>
            </p:txBody>
          </p:sp>
        </p:grpSp>
        <p:sp>
          <p:nvSpPr>
            <p:cNvPr name="Freeform 7" id="7"/>
            <p:cNvSpPr/>
            <p:nvPr/>
          </p:nvSpPr>
          <p:spPr>
            <a:xfrm flipH="false" flipV="false" rot="-5400000">
              <a:off x="5357822" y="-5357822"/>
              <a:ext cx="12572680" cy="23288325"/>
            </a:xfrm>
            <a:custGeom>
              <a:avLst/>
              <a:gdLst/>
              <a:ahLst/>
              <a:cxnLst/>
              <a:rect r="r" b="b" t="t" l="l"/>
              <a:pathLst>
                <a:path h="23288325" w="12572680">
                  <a:moveTo>
                    <a:pt x="0" y="0"/>
                  </a:moveTo>
                  <a:lnTo>
                    <a:pt x="12572681" y="0"/>
                  </a:lnTo>
                  <a:lnTo>
                    <a:pt x="12572681" y="23288325"/>
                  </a:lnTo>
                  <a:lnTo>
                    <a:pt x="0" y="23288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 l="0" t="0" r="-24752" b="-2628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28700" y="3047686"/>
            <a:ext cx="8115300" cy="5067566"/>
            <a:chOff x="0" y="0"/>
            <a:chExt cx="2378619" cy="148531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78619" cy="1485319"/>
            </a:xfrm>
            <a:custGeom>
              <a:avLst/>
              <a:gdLst/>
              <a:ahLst/>
              <a:cxnLst/>
              <a:rect r="r" b="b" t="t" l="l"/>
              <a:pathLst>
                <a:path h="1485319" w="2378619">
                  <a:moveTo>
                    <a:pt x="95399" y="0"/>
                  </a:moveTo>
                  <a:lnTo>
                    <a:pt x="2283220" y="0"/>
                  </a:lnTo>
                  <a:cubicBezTo>
                    <a:pt x="2335907" y="0"/>
                    <a:pt x="2378619" y="42712"/>
                    <a:pt x="2378619" y="95399"/>
                  </a:cubicBezTo>
                  <a:lnTo>
                    <a:pt x="2378619" y="1389920"/>
                  </a:lnTo>
                  <a:cubicBezTo>
                    <a:pt x="2378619" y="1442607"/>
                    <a:pt x="2335907" y="1485319"/>
                    <a:pt x="2283220" y="1485319"/>
                  </a:cubicBezTo>
                  <a:lnTo>
                    <a:pt x="95399" y="1485319"/>
                  </a:lnTo>
                  <a:cubicBezTo>
                    <a:pt x="70098" y="1485319"/>
                    <a:pt x="45833" y="1475268"/>
                    <a:pt x="27942" y="1457377"/>
                  </a:cubicBezTo>
                  <a:cubicBezTo>
                    <a:pt x="10051" y="1439486"/>
                    <a:pt x="0" y="1415221"/>
                    <a:pt x="0" y="1389920"/>
                  </a:cubicBezTo>
                  <a:lnTo>
                    <a:pt x="0" y="95399"/>
                  </a:lnTo>
                  <a:cubicBezTo>
                    <a:pt x="0" y="42712"/>
                    <a:pt x="42712" y="0"/>
                    <a:pt x="95399" y="0"/>
                  </a:cubicBezTo>
                  <a:close/>
                </a:path>
              </a:pathLst>
            </a:custGeom>
            <a:ln w="66675" cap="rnd">
              <a:solidFill>
                <a:srgbClr val="94D3C8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2378619" cy="1523419"/>
            </a:xfrm>
            <a:prstGeom prst="rect">
              <a:avLst/>
            </a:prstGeom>
          </p:spPr>
          <p:txBody>
            <a:bodyPr anchor="ctr" rtlCol="false" tIns="48876" lIns="48876" bIns="48876" rIns="48876"/>
            <a:lstStyle/>
            <a:p>
              <a:pPr algn="ctr">
                <a:lnSpc>
                  <a:spcPts val="1588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3047686"/>
            <a:ext cx="8103217" cy="5067566"/>
            <a:chOff x="0" y="0"/>
            <a:chExt cx="2375077" cy="148531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375077" cy="1485319"/>
            </a:xfrm>
            <a:custGeom>
              <a:avLst/>
              <a:gdLst/>
              <a:ahLst/>
              <a:cxnLst/>
              <a:rect r="r" b="b" t="t" l="l"/>
              <a:pathLst>
                <a:path h="1485319" w="2375077">
                  <a:moveTo>
                    <a:pt x="95541" y="0"/>
                  </a:moveTo>
                  <a:lnTo>
                    <a:pt x="2279536" y="0"/>
                  </a:lnTo>
                  <a:cubicBezTo>
                    <a:pt x="2332302" y="0"/>
                    <a:pt x="2375077" y="42775"/>
                    <a:pt x="2375077" y="95541"/>
                  </a:cubicBezTo>
                  <a:lnTo>
                    <a:pt x="2375077" y="1389777"/>
                  </a:lnTo>
                  <a:cubicBezTo>
                    <a:pt x="2375077" y="1415117"/>
                    <a:pt x="2365011" y="1439418"/>
                    <a:pt x="2347094" y="1457335"/>
                  </a:cubicBezTo>
                  <a:cubicBezTo>
                    <a:pt x="2329176" y="1475253"/>
                    <a:pt x="2304875" y="1485319"/>
                    <a:pt x="2279536" y="1485319"/>
                  </a:cubicBezTo>
                  <a:lnTo>
                    <a:pt x="95541" y="1485319"/>
                  </a:lnTo>
                  <a:cubicBezTo>
                    <a:pt x="70202" y="1485319"/>
                    <a:pt x="45901" y="1475253"/>
                    <a:pt x="27983" y="1457335"/>
                  </a:cubicBezTo>
                  <a:cubicBezTo>
                    <a:pt x="10066" y="1439418"/>
                    <a:pt x="0" y="1415117"/>
                    <a:pt x="0" y="1389777"/>
                  </a:cubicBezTo>
                  <a:lnTo>
                    <a:pt x="0" y="95541"/>
                  </a:lnTo>
                  <a:cubicBezTo>
                    <a:pt x="0" y="70202"/>
                    <a:pt x="10066" y="45901"/>
                    <a:pt x="27983" y="27983"/>
                  </a:cubicBezTo>
                  <a:cubicBezTo>
                    <a:pt x="45901" y="10066"/>
                    <a:pt x="70202" y="0"/>
                    <a:pt x="95541" y="0"/>
                  </a:cubicBezTo>
                  <a:close/>
                </a:path>
              </a:pathLst>
            </a:custGeom>
            <a:ln w="66675" cap="rnd">
              <a:solidFill>
                <a:srgbClr val="94D3C8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375077" cy="1523419"/>
            </a:xfrm>
            <a:prstGeom prst="rect">
              <a:avLst/>
            </a:prstGeom>
          </p:spPr>
          <p:txBody>
            <a:bodyPr anchor="ctr" rtlCol="false" tIns="48876" lIns="48876" bIns="48876" rIns="48876"/>
            <a:lstStyle/>
            <a:p>
              <a:pPr algn="ctr">
                <a:lnSpc>
                  <a:spcPts val="1588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808961" y="3600334"/>
            <a:ext cx="7122386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b="true" sz="3200" spc="44">
                <a:solidFill>
                  <a:srgbClr val="0384C7"/>
                </a:solidFill>
                <a:latin typeface="DM Sans Bold"/>
                <a:ea typeface="DM Sans Bold"/>
                <a:cs typeface="DM Sans Bold"/>
                <a:sym typeface="DM Sans Bold"/>
              </a:rPr>
              <a:t>R</a:t>
            </a:r>
            <a:r>
              <a:rPr lang="en-US" b="true" sz="3200" spc="44">
                <a:solidFill>
                  <a:srgbClr val="0384C7"/>
                </a:solidFill>
                <a:latin typeface="DM Sans Bold"/>
                <a:ea typeface="DM Sans Bold"/>
                <a:cs typeface="DM Sans Bold"/>
                <a:sym typeface="DM Sans Bold"/>
              </a:rPr>
              <a:t>OL KINESIÓLOGO(WEB &amp; MÓVIL)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808961" y="4269876"/>
            <a:ext cx="6581605" cy="221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ortal Web: Ge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ión d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fichas, para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etriz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ción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rut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nas (ser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es/reps/descansos) y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ná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isis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 adheren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ia. 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App Móvil: M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"Sesió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 Vivo / Box" para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prescri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bir y supervisar al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aciente en movimiento durante la aten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ción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presencial.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628900" y="1333500"/>
            <a:ext cx="13335000" cy="84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79"/>
              </a:lnSpc>
            </a:pPr>
            <a:r>
              <a:rPr lang="en-US" sz="5799">
                <a:solidFill>
                  <a:srgbClr val="0F172A"/>
                </a:solidFill>
                <a:latin typeface="Chewy"/>
                <a:ea typeface="Chewy"/>
                <a:cs typeface="Chewy"/>
                <a:sym typeface="Chewy"/>
              </a:rPr>
              <a:t>S</a:t>
            </a:r>
            <a:r>
              <a:rPr lang="en-US" sz="5799">
                <a:solidFill>
                  <a:srgbClr val="0F172A"/>
                </a:solidFill>
                <a:latin typeface="Chewy"/>
                <a:ea typeface="Chewy"/>
                <a:cs typeface="Chewy"/>
                <a:sym typeface="Chewy"/>
              </a:rPr>
              <a:t>olución: Ecosistema Digital Kineconnect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057206" y="3583824"/>
            <a:ext cx="6389415" cy="563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b="true" sz="3300" spc="46">
                <a:solidFill>
                  <a:srgbClr val="0384C7"/>
                </a:solidFill>
                <a:latin typeface="DM Sans Bold"/>
                <a:ea typeface="DM Sans Bold"/>
                <a:cs typeface="DM Sans Bold"/>
                <a:sym typeface="DM Sans Bold"/>
              </a:rPr>
              <a:t>R</a:t>
            </a:r>
            <a:r>
              <a:rPr lang="en-US" b="true" sz="3300" spc="46">
                <a:solidFill>
                  <a:srgbClr val="0384C7"/>
                </a:solidFill>
                <a:latin typeface="DM Sans Bold"/>
                <a:ea typeface="DM Sans Bold"/>
                <a:cs typeface="DM Sans Bold"/>
                <a:sym typeface="DM Sans Bold"/>
              </a:rPr>
              <a:t>OL PACIENTE (APP MÓVIL):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057206" y="4269876"/>
            <a:ext cx="6581605" cy="25850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tin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diar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asis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c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 conte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nido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timedia (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ideos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/GIF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)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.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onómetro inte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ract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ivo o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blig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io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para evi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ejecu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apr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suradas.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</a:p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de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feedb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ck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pos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jerci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cio con escal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de dolor (1 al 10)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.</a:t>
            </a:r>
            <a:r>
              <a:rPr lang="en-US" b="true" sz="2100" strike="noStrike" u="none">
                <a:solidFill>
                  <a:srgbClr val="050A3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</a:p>
          <a:p>
            <a:pPr algn="l">
              <a:lnSpc>
                <a:spcPts val="2940"/>
              </a:lnSpc>
            </a:pPr>
          </a:p>
        </p:txBody>
      </p:sp>
      <p:grpSp>
        <p:nvGrpSpPr>
          <p:cNvPr name="Group 19" id="19"/>
          <p:cNvGrpSpPr/>
          <p:nvPr/>
        </p:nvGrpSpPr>
        <p:grpSpPr>
          <a:xfrm rot="0">
            <a:off x="1918405" y="6854961"/>
            <a:ext cx="6472161" cy="790498"/>
            <a:chOff x="0" y="0"/>
            <a:chExt cx="2176994" cy="26589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76994" cy="265894"/>
            </a:xfrm>
            <a:custGeom>
              <a:avLst/>
              <a:gdLst/>
              <a:ahLst/>
              <a:cxnLst/>
              <a:rect r="r" b="b" t="t" l="l"/>
              <a:pathLst>
                <a:path h="265894" w="2176994">
                  <a:moveTo>
                    <a:pt x="0" y="0"/>
                  </a:moveTo>
                  <a:lnTo>
                    <a:pt x="2176994" y="0"/>
                  </a:lnTo>
                  <a:lnTo>
                    <a:pt x="2176994" y="265894"/>
                  </a:lnTo>
                  <a:lnTo>
                    <a:pt x="0" y="265894"/>
                  </a:lnTo>
                  <a:close/>
                </a:path>
              </a:pathLst>
            </a:custGeom>
            <a:solidFill>
              <a:srgbClr val="94D3C8">
                <a:alpha val="38824"/>
              </a:srgbClr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2176994" cy="3135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23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918405" y="6857901"/>
            <a:ext cx="171096" cy="790498"/>
            <a:chOff x="0" y="0"/>
            <a:chExt cx="57550" cy="2658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7550" cy="265894"/>
            </a:xfrm>
            <a:custGeom>
              <a:avLst/>
              <a:gdLst/>
              <a:ahLst/>
              <a:cxnLst/>
              <a:rect r="r" b="b" t="t" l="l"/>
              <a:pathLst>
                <a:path h="265894" w="57550">
                  <a:moveTo>
                    <a:pt x="0" y="0"/>
                  </a:moveTo>
                  <a:lnTo>
                    <a:pt x="57550" y="0"/>
                  </a:lnTo>
                  <a:lnTo>
                    <a:pt x="57550" y="265894"/>
                  </a:lnTo>
                  <a:lnTo>
                    <a:pt x="0" y="265894"/>
                  </a:lnTo>
                  <a:close/>
                </a:path>
              </a:pathLst>
            </a:custGeom>
            <a:solidFill>
              <a:srgbClr val="1E4D35">
                <a:alpha val="38824"/>
              </a:srgbClr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57550" cy="3135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23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2371191" y="6962073"/>
            <a:ext cx="5010604" cy="553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8"/>
              </a:lnSpc>
            </a:pP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Ale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rta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Te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pra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na: Indi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cador vis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al in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 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si 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tado 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≥7/10</a:t>
            </a:r>
            <a:r>
              <a:rPr lang="en-US" b="true" sz="1598" strike="noStrike" u="none">
                <a:solidFill>
                  <a:srgbClr val="050A3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10878" y="556070"/>
            <a:ext cx="17466244" cy="9429510"/>
            <a:chOff x="0" y="0"/>
            <a:chExt cx="23288325" cy="12572680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0"/>
              <a:ext cx="23288325" cy="12572680"/>
              <a:chOff x="0" y="0"/>
              <a:chExt cx="4600163" cy="2483492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4600163" cy="2483492"/>
              </a:xfrm>
              <a:custGeom>
                <a:avLst/>
                <a:gdLst/>
                <a:ahLst/>
                <a:cxnLst/>
                <a:rect r="r" b="b" t="t" l="l"/>
                <a:pathLst>
                  <a:path h="2483492" w="4600163">
                    <a:moveTo>
                      <a:pt x="31471" y="0"/>
                    </a:moveTo>
                    <a:lnTo>
                      <a:pt x="4568692" y="0"/>
                    </a:lnTo>
                    <a:cubicBezTo>
                      <a:pt x="4586073" y="0"/>
                      <a:pt x="4600163" y="14090"/>
                      <a:pt x="4600163" y="31471"/>
                    </a:cubicBezTo>
                    <a:lnTo>
                      <a:pt x="4600163" y="2452022"/>
                    </a:lnTo>
                    <a:cubicBezTo>
                      <a:pt x="4600163" y="2469402"/>
                      <a:pt x="4586073" y="2483492"/>
                      <a:pt x="4568692" y="2483492"/>
                    </a:cubicBezTo>
                    <a:lnTo>
                      <a:pt x="31471" y="2483492"/>
                    </a:lnTo>
                    <a:cubicBezTo>
                      <a:pt x="14090" y="2483492"/>
                      <a:pt x="0" y="2469402"/>
                      <a:pt x="0" y="2452022"/>
                    </a:cubicBezTo>
                    <a:lnTo>
                      <a:pt x="0" y="31471"/>
                    </a:lnTo>
                    <a:cubicBezTo>
                      <a:pt x="0" y="14090"/>
                      <a:pt x="14090" y="0"/>
                      <a:pt x="3147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0" y="-47625"/>
                <a:ext cx="4600163" cy="25311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23"/>
                  </a:lnSpc>
                </a:pPr>
              </a:p>
            </p:txBody>
          </p:sp>
        </p:grpSp>
        <p:sp>
          <p:nvSpPr>
            <p:cNvPr name="Freeform 7" id="7"/>
            <p:cNvSpPr/>
            <p:nvPr/>
          </p:nvSpPr>
          <p:spPr>
            <a:xfrm flipH="false" flipV="false" rot="-5400000">
              <a:off x="5357822" y="-5357822"/>
              <a:ext cx="12572680" cy="23288325"/>
            </a:xfrm>
            <a:custGeom>
              <a:avLst/>
              <a:gdLst/>
              <a:ahLst/>
              <a:cxnLst/>
              <a:rect r="r" b="b" t="t" l="l"/>
              <a:pathLst>
                <a:path h="23288325" w="12572680">
                  <a:moveTo>
                    <a:pt x="0" y="0"/>
                  </a:moveTo>
                  <a:lnTo>
                    <a:pt x="12572681" y="0"/>
                  </a:lnTo>
                  <a:lnTo>
                    <a:pt x="12572681" y="23288325"/>
                  </a:lnTo>
                  <a:lnTo>
                    <a:pt x="0" y="232883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10999"/>
              </a:blip>
              <a:stretch>
                <a:fillRect l="0" t="0" r="-24752" b="-2628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2476500" y="790575"/>
            <a:ext cx="13335000" cy="761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19"/>
              </a:lnSpc>
            </a:pPr>
            <a:r>
              <a:rPr lang="en-US" sz="5199">
                <a:solidFill>
                  <a:srgbClr val="0F172A"/>
                </a:solidFill>
                <a:latin typeface="Chewy"/>
                <a:ea typeface="Chewy"/>
                <a:cs typeface="Chewy"/>
                <a:sym typeface="Chewy"/>
              </a:rPr>
              <a:t>Stack Tecnológico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381500" y="1600200"/>
            <a:ext cx="9525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666666"/>
                </a:solidFill>
                <a:latin typeface="Canva Sans"/>
                <a:ea typeface="Canva Sans"/>
                <a:cs typeface="Canva Sans"/>
                <a:sym typeface="Canva Sans"/>
              </a:rPr>
              <a:t>Herramientas y tecnologías del ecosistema Kineconnect</a:t>
            </a:r>
          </a:p>
        </p:txBody>
      </p:sp>
      <p:sp>
        <p:nvSpPr>
          <p:cNvPr name="AutoShape 10" id="10"/>
          <p:cNvSpPr/>
          <p:nvPr/>
        </p:nvSpPr>
        <p:spPr>
          <a:xfrm>
            <a:off x="9144000" y="2095500"/>
            <a:ext cx="0" cy="571500"/>
          </a:xfrm>
          <a:prstGeom prst="line">
            <a:avLst/>
          </a:prstGeom>
          <a:ln cap="flat" w="3810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3571875" y="2667000"/>
            <a:ext cx="11144250" cy="0"/>
          </a:xfrm>
          <a:prstGeom prst="line">
            <a:avLst/>
          </a:prstGeom>
          <a:ln cap="flat" w="3810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3571875" y="2667000"/>
            <a:ext cx="0" cy="476250"/>
          </a:xfrm>
          <a:prstGeom prst="line">
            <a:avLst/>
          </a:prstGeom>
          <a:ln cap="flat" w="3810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7286625" y="2667000"/>
            <a:ext cx="0" cy="476250"/>
          </a:xfrm>
          <a:prstGeom prst="line">
            <a:avLst/>
          </a:prstGeom>
          <a:ln cap="flat" w="3810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1001375" y="2667000"/>
            <a:ext cx="0" cy="476250"/>
          </a:xfrm>
          <a:prstGeom prst="line">
            <a:avLst/>
          </a:prstGeom>
          <a:ln cap="flat" w="3810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14716125" y="2667000"/>
            <a:ext cx="0" cy="476250"/>
          </a:xfrm>
          <a:prstGeom prst="line">
            <a:avLst/>
          </a:prstGeom>
          <a:ln cap="flat" w="3810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0">
            <a:off x="3495675" y="3067050"/>
            <a:ext cx="152400" cy="152400"/>
            <a:chOff x="0" y="0"/>
            <a:chExt cx="203200" cy="203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45488" y="0"/>
                    <a:pt x="0" y="45488"/>
                    <a:pt x="0" y="101600"/>
                  </a:cubicBezTo>
                  <a:cubicBezTo>
                    <a:pt x="0" y="157712"/>
                    <a:pt x="45488" y="203200"/>
                    <a:pt x="101600" y="203200"/>
                  </a:cubicBezTo>
                  <a:cubicBezTo>
                    <a:pt x="157712" y="203200"/>
                    <a:pt x="203200" y="157712"/>
                    <a:pt x="203200" y="101600"/>
                  </a:cubicBezTo>
                  <a:cubicBezTo>
                    <a:pt x="203200" y="45488"/>
                    <a:pt x="157712" y="0"/>
                    <a:pt x="101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203200" cy="241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7210425" y="3067050"/>
            <a:ext cx="152400" cy="152400"/>
            <a:chOff x="0" y="0"/>
            <a:chExt cx="203200" cy="203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45488" y="0"/>
                    <a:pt x="0" y="45488"/>
                    <a:pt x="0" y="101600"/>
                  </a:cubicBezTo>
                  <a:cubicBezTo>
                    <a:pt x="0" y="157712"/>
                    <a:pt x="45488" y="203200"/>
                    <a:pt x="101600" y="203200"/>
                  </a:cubicBezTo>
                  <a:cubicBezTo>
                    <a:pt x="157712" y="203200"/>
                    <a:pt x="203200" y="157712"/>
                    <a:pt x="203200" y="101600"/>
                  </a:cubicBezTo>
                  <a:cubicBezTo>
                    <a:pt x="203200" y="45488"/>
                    <a:pt x="157712" y="0"/>
                    <a:pt x="101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03200" cy="241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925175" y="3067050"/>
            <a:ext cx="152400" cy="152400"/>
            <a:chOff x="0" y="0"/>
            <a:chExt cx="203200" cy="2032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45488" y="0"/>
                    <a:pt x="0" y="45488"/>
                    <a:pt x="0" y="101600"/>
                  </a:cubicBezTo>
                  <a:cubicBezTo>
                    <a:pt x="0" y="157712"/>
                    <a:pt x="45488" y="203200"/>
                    <a:pt x="101600" y="203200"/>
                  </a:cubicBezTo>
                  <a:cubicBezTo>
                    <a:pt x="157712" y="203200"/>
                    <a:pt x="203200" y="157712"/>
                    <a:pt x="203200" y="101600"/>
                  </a:cubicBezTo>
                  <a:cubicBezTo>
                    <a:pt x="203200" y="45488"/>
                    <a:pt x="157712" y="0"/>
                    <a:pt x="101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03200" cy="241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4639925" y="3067050"/>
            <a:ext cx="152400" cy="152400"/>
            <a:chOff x="0" y="0"/>
            <a:chExt cx="203200" cy="2032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03200" cy="203200"/>
            </a:xfrm>
            <a:custGeom>
              <a:avLst/>
              <a:gdLst/>
              <a:ahLst/>
              <a:cxnLst/>
              <a:rect r="r" b="b" t="t" l="l"/>
              <a:pathLst>
                <a:path h="203200" w="203200">
                  <a:moveTo>
                    <a:pt x="101600" y="0"/>
                  </a:moveTo>
                  <a:cubicBezTo>
                    <a:pt x="45488" y="0"/>
                    <a:pt x="0" y="45488"/>
                    <a:pt x="0" y="101600"/>
                  </a:cubicBezTo>
                  <a:cubicBezTo>
                    <a:pt x="0" y="157712"/>
                    <a:pt x="45488" y="203200"/>
                    <a:pt x="101600" y="203200"/>
                  </a:cubicBezTo>
                  <a:cubicBezTo>
                    <a:pt x="157712" y="203200"/>
                    <a:pt x="203200" y="157712"/>
                    <a:pt x="203200" y="101600"/>
                  </a:cubicBezTo>
                  <a:cubicBezTo>
                    <a:pt x="203200" y="45488"/>
                    <a:pt x="157712" y="0"/>
                    <a:pt x="101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03200" cy="241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952625" y="3295650"/>
            <a:ext cx="3238500" cy="4953000"/>
            <a:chOff x="0" y="0"/>
            <a:chExt cx="4318000" cy="6604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318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4318000">
                  <a:moveTo>
                    <a:pt x="431800" y="0"/>
                  </a:moveTo>
                  <a:lnTo>
                    <a:pt x="3886200" y="0"/>
                  </a:lnTo>
                  <a:cubicBezTo>
                    <a:pt x="4124677" y="0"/>
                    <a:pt x="4318000" y="193323"/>
                    <a:pt x="4318000" y="431800"/>
                  </a:cubicBezTo>
                  <a:lnTo>
                    <a:pt x="4318000" y="6172200"/>
                  </a:lnTo>
                  <a:cubicBezTo>
                    <a:pt x="4318000" y="6410677"/>
                    <a:pt x="4124677" y="6604000"/>
                    <a:pt x="3886200" y="6604000"/>
                  </a:cubicBezTo>
                  <a:lnTo>
                    <a:pt x="431800" y="6604000"/>
                  </a:lnTo>
                  <a:cubicBezTo>
                    <a:pt x="193323" y="6604000"/>
                    <a:pt x="0" y="6410677"/>
                    <a:pt x="0" y="6172200"/>
                  </a:cubicBezTo>
                  <a:lnTo>
                    <a:pt x="0" y="431800"/>
                  </a:lnTo>
                  <a:cubicBezTo>
                    <a:pt x="0" y="193323"/>
                    <a:pt x="193323" y="0"/>
                    <a:pt x="4318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19050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4318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952625" y="3295650"/>
            <a:ext cx="3238500" cy="57150"/>
            <a:chOff x="0" y="0"/>
            <a:chExt cx="4318000" cy="762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318000" cy="76200"/>
            </a:xfrm>
            <a:custGeom>
              <a:avLst/>
              <a:gdLst/>
              <a:ahLst/>
              <a:cxnLst/>
              <a:rect r="r" b="b" t="t" l="l"/>
              <a:pathLst>
                <a:path h="762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44D26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431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3190875" y="3676650"/>
            <a:ext cx="762000" cy="762000"/>
            <a:chOff x="0" y="0"/>
            <a:chExt cx="1016000" cy="1016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16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1016000">
                  <a:moveTo>
                    <a:pt x="508000" y="0"/>
                  </a:moveTo>
                  <a:cubicBezTo>
                    <a:pt x="227439" y="0"/>
                    <a:pt x="0" y="227439"/>
                    <a:pt x="0" y="508000"/>
                  </a:cubicBezTo>
                  <a:cubicBezTo>
                    <a:pt x="0" y="788561"/>
                    <a:pt x="227439" y="1016000"/>
                    <a:pt x="508000" y="1016000"/>
                  </a:cubicBezTo>
                  <a:cubicBezTo>
                    <a:pt x="788561" y="1016000"/>
                    <a:pt x="1016000" y="788561"/>
                    <a:pt x="1016000" y="508000"/>
                  </a:cubicBezTo>
                  <a:cubicBezTo>
                    <a:pt x="1016000" y="227439"/>
                    <a:pt x="788561" y="0"/>
                    <a:pt x="508000" y="0"/>
                  </a:cubicBezTo>
                  <a:close/>
                </a:path>
              </a:pathLst>
            </a:custGeom>
            <a:solidFill>
              <a:srgbClr val="E44D26">
                <a:alpha val="19608"/>
              </a:srgbClr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016000" cy="10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3190875" y="3705225"/>
            <a:ext cx="762000" cy="645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94"/>
              </a:lnSpc>
            </a:pPr>
            <a:r>
              <a:rPr lang="en-US" b="true" sz="3852">
                <a:solidFill>
                  <a:srgbClr val="E44D2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&lt;/&gt;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143125" y="4619625"/>
            <a:ext cx="28575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Frontend Web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143125" y="4953000"/>
            <a:ext cx="28575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9"/>
              </a:lnSpc>
            </a:pPr>
            <a:r>
              <a:rPr lang="en-US" sz="1599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HTML5 + CSS3 + JS</a:t>
            </a:r>
          </a:p>
        </p:txBody>
      </p:sp>
      <p:sp>
        <p:nvSpPr>
          <p:cNvPr name="AutoShape 40" id="40"/>
          <p:cNvSpPr/>
          <p:nvPr/>
        </p:nvSpPr>
        <p:spPr>
          <a:xfrm>
            <a:off x="2238375" y="5343525"/>
            <a:ext cx="2667000" cy="0"/>
          </a:xfrm>
          <a:prstGeom prst="line">
            <a:avLst/>
          </a:prstGeom>
          <a:ln cap="flat" w="9525">
            <a:solidFill>
              <a:srgbClr val="4CAF5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1" id="41"/>
          <p:cNvSpPr txBox="true"/>
          <p:nvPr/>
        </p:nvSpPr>
        <p:spPr>
          <a:xfrm rot="0">
            <a:off x="2190750" y="5448300"/>
            <a:ext cx="2762250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500">
                <a:solidFill>
                  <a:srgbClr val="CCCCCC"/>
                </a:solidFill>
                <a:latin typeface="Canva Sans"/>
                <a:ea typeface="Canva Sans"/>
                <a:cs typeface="Canva Sans"/>
                <a:sym typeface="Canva Sans"/>
              </a:rPr>
              <a:t>Interfaces responsivas con estándares web modernos y diseño adaptativo.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5667375" y="3295650"/>
            <a:ext cx="3238500" cy="4953000"/>
            <a:chOff x="0" y="0"/>
            <a:chExt cx="4318000" cy="66040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318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4318000">
                  <a:moveTo>
                    <a:pt x="431800" y="0"/>
                  </a:moveTo>
                  <a:lnTo>
                    <a:pt x="3886200" y="0"/>
                  </a:lnTo>
                  <a:cubicBezTo>
                    <a:pt x="4124677" y="0"/>
                    <a:pt x="4318000" y="193323"/>
                    <a:pt x="4318000" y="431800"/>
                  </a:cubicBezTo>
                  <a:lnTo>
                    <a:pt x="4318000" y="6172200"/>
                  </a:lnTo>
                  <a:cubicBezTo>
                    <a:pt x="4318000" y="6410677"/>
                    <a:pt x="4124677" y="6604000"/>
                    <a:pt x="3886200" y="6604000"/>
                  </a:cubicBezTo>
                  <a:lnTo>
                    <a:pt x="431800" y="6604000"/>
                  </a:lnTo>
                  <a:cubicBezTo>
                    <a:pt x="193323" y="6604000"/>
                    <a:pt x="0" y="6410677"/>
                    <a:pt x="0" y="6172200"/>
                  </a:cubicBezTo>
                  <a:lnTo>
                    <a:pt x="0" y="431800"/>
                  </a:lnTo>
                  <a:cubicBezTo>
                    <a:pt x="0" y="193323"/>
                    <a:pt x="193323" y="0"/>
                    <a:pt x="4318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19050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4318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5667375" y="3295650"/>
            <a:ext cx="3238500" cy="57150"/>
            <a:chOff x="0" y="0"/>
            <a:chExt cx="4318000" cy="762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4318000" cy="76200"/>
            </a:xfrm>
            <a:custGeom>
              <a:avLst/>
              <a:gdLst/>
              <a:ahLst/>
              <a:cxnLst/>
              <a:rect r="r" b="b" t="t" l="l"/>
              <a:pathLst>
                <a:path h="762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61DAFB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431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6905625" y="3676650"/>
            <a:ext cx="762000" cy="762000"/>
            <a:chOff x="0" y="0"/>
            <a:chExt cx="1016000" cy="10160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016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1016000">
                  <a:moveTo>
                    <a:pt x="508000" y="0"/>
                  </a:moveTo>
                  <a:cubicBezTo>
                    <a:pt x="227439" y="0"/>
                    <a:pt x="0" y="227439"/>
                    <a:pt x="0" y="508000"/>
                  </a:cubicBezTo>
                  <a:cubicBezTo>
                    <a:pt x="0" y="788561"/>
                    <a:pt x="227439" y="1016000"/>
                    <a:pt x="508000" y="1016000"/>
                  </a:cubicBezTo>
                  <a:cubicBezTo>
                    <a:pt x="788561" y="1016000"/>
                    <a:pt x="1016000" y="788561"/>
                    <a:pt x="1016000" y="508000"/>
                  </a:cubicBezTo>
                  <a:cubicBezTo>
                    <a:pt x="1016000" y="227439"/>
                    <a:pt x="788561" y="0"/>
                    <a:pt x="508000" y="0"/>
                  </a:cubicBezTo>
                  <a:close/>
                </a:path>
              </a:pathLst>
            </a:custGeom>
            <a:solidFill>
              <a:srgbClr val="61DAFB">
                <a:alpha val="19608"/>
              </a:srgbClr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1016000" cy="10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6905625" y="3676650"/>
            <a:ext cx="762000" cy="687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99"/>
              </a:lnSpc>
            </a:pPr>
            <a:r>
              <a:rPr lang="en-US" b="true" sz="4071">
                <a:solidFill>
                  <a:srgbClr val="61DAF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5857875" y="4619625"/>
            <a:ext cx="28575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App Móvil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5857875" y="4953000"/>
            <a:ext cx="28575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9"/>
              </a:lnSpc>
            </a:pPr>
            <a:r>
              <a:rPr lang="en-US" sz="1599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React Native + Expo</a:t>
            </a:r>
          </a:p>
        </p:txBody>
      </p:sp>
      <p:sp>
        <p:nvSpPr>
          <p:cNvPr name="AutoShape 54" id="54"/>
          <p:cNvSpPr/>
          <p:nvPr/>
        </p:nvSpPr>
        <p:spPr>
          <a:xfrm>
            <a:off x="5953125" y="5343525"/>
            <a:ext cx="2667000" cy="0"/>
          </a:xfrm>
          <a:prstGeom prst="line">
            <a:avLst/>
          </a:prstGeom>
          <a:ln cap="flat" w="9525">
            <a:solidFill>
              <a:srgbClr val="4CAF5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5" id="55"/>
          <p:cNvSpPr txBox="true"/>
          <p:nvPr/>
        </p:nvSpPr>
        <p:spPr>
          <a:xfrm rot="0">
            <a:off x="5905500" y="5448300"/>
            <a:ext cx="2762250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500">
                <a:solidFill>
                  <a:srgbClr val="CCCCCC"/>
                </a:solidFill>
                <a:latin typeface="Canva Sans"/>
                <a:ea typeface="Canva Sans"/>
                <a:cs typeface="Canva Sans"/>
                <a:sym typeface="Canva Sans"/>
              </a:rPr>
              <a:t>Aplicación multiplataforma iOS/Android con experiencia nativa fluida.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9382125" y="3295650"/>
            <a:ext cx="3238500" cy="4953000"/>
            <a:chOff x="0" y="0"/>
            <a:chExt cx="4318000" cy="66040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318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4318000">
                  <a:moveTo>
                    <a:pt x="431800" y="0"/>
                  </a:moveTo>
                  <a:lnTo>
                    <a:pt x="3886200" y="0"/>
                  </a:lnTo>
                  <a:cubicBezTo>
                    <a:pt x="4124677" y="0"/>
                    <a:pt x="4318000" y="193323"/>
                    <a:pt x="4318000" y="431800"/>
                  </a:cubicBezTo>
                  <a:lnTo>
                    <a:pt x="4318000" y="6172200"/>
                  </a:lnTo>
                  <a:cubicBezTo>
                    <a:pt x="4318000" y="6410677"/>
                    <a:pt x="4124677" y="6604000"/>
                    <a:pt x="3886200" y="6604000"/>
                  </a:cubicBezTo>
                  <a:lnTo>
                    <a:pt x="431800" y="6604000"/>
                  </a:lnTo>
                  <a:cubicBezTo>
                    <a:pt x="193323" y="6604000"/>
                    <a:pt x="0" y="6410677"/>
                    <a:pt x="0" y="6172200"/>
                  </a:cubicBezTo>
                  <a:lnTo>
                    <a:pt x="0" y="431800"/>
                  </a:lnTo>
                  <a:cubicBezTo>
                    <a:pt x="0" y="193323"/>
                    <a:pt x="193323" y="0"/>
                    <a:pt x="4318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19050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4318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382125" y="3295650"/>
            <a:ext cx="3238500" cy="57150"/>
            <a:chOff x="0" y="0"/>
            <a:chExt cx="4318000" cy="762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318000" cy="76200"/>
            </a:xfrm>
            <a:custGeom>
              <a:avLst/>
              <a:gdLst/>
              <a:ahLst/>
              <a:cxnLst/>
              <a:rect r="r" b="b" t="t" l="l"/>
              <a:pathLst>
                <a:path h="762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306998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431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0620375" y="3676650"/>
            <a:ext cx="762000" cy="762000"/>
            <a:chOff x="0" y="0"/>
            <a:chExt cx="1016000" cy="10160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16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1016000">
                  <a:moveTo>
                    <a:pt x="508000" y="0"/>
                  </a:moveTo>
                  <a:cubicBezTo>
                    <a:pt x="227439" y="0"/>
                    <a:pt x="0" y="227439"/>
                    <a:pt x="0" y="508000"/>
                  </a:cubicBezTo>
                  <a:cubicBezTo>
                    <a:pt x="0" y="788561"/>
                    <a:pt x="227439" y="1016000"/>
                    <a:pt x="508000" y="1016000"/>
                  </a:cubicBezTo>
                  <a:cubicBezTo>
                    <a:pt x="788561" y="1016000"/>
                    <a:pt x="1016000" y="788561"/>
                    <a:pt x="1016000" y="508000"/>
                  </a:cubicBezTo>
                  <a:cubicBezTo>
                    <a:pt x="1016000" y="227439"/>
                    <a:pt x="788561" y="0"/>
                    <a:pt x="508000" y="0"/>
                  </a:cubicBezTo>
                  <a:close/>
                </a:path>
              </a:pathLst>
            </a:custGeom>
            <a:solidFill>
              <a:srgbClr val="306998">
                <a:alpha val="19608"/>
              </a:srgbClr>
            </a:solid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1016000" cy="10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10620375" y="3571875"/>
            <a:ext cx="762000" cy="863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16"/>
              </a:lnSpc>
            </a:pPr>
            <a:r>
              <a:rPr lang="en-US" b="true" sz="5011">
                <a:solidFill>
                  <a:srgbClr val="050A3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Py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9572625" y="4619625"/>
            <a:ext cx="28575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Backend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9928814" y="4932292"/>
            <a:ext cx="2145122" cy="4112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1"/>
              </a:lnSpc>
            </a:pPr>
            <a:r>
              <a:rPr lang="en-US" sz="1270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Python + Django REST Framework </a:t>
            </a:r>
          </a:p>
        </p:txBody>
      </p:sp>
      <p:sp>
        <p:nvSpPr>
          <p:cNvPr name="AutoShape 68" id="68"/>
          <p:cNvSpPr/>
          <p:nvPr/>
        </p:nvSpPr>
        <p:spPr>
          <a:xfrm>
            <a:off x="9667875" y="5343525"/>
            <a:ext cx="2667000" cy="0"/>
          </a:xfrm>
          <a:prstGeom prst="line">
            <a:avLst/>
          </a:prstGeom>
          <a:ln cap="flat" w="9525">
            <a:solidFill>
              <a:srgbClr val="4CAF5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9" id="69"/>
          <p:cNvSpPr txBox="true"/>
          <p:nvPr/>
        </p:nvSpPr>
        <p:spPr>
          <a:xfrm rot="0">
            <a:off x="9620250" y="5448300"/>
            <a:ext cx="2762250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500">
                <a:solidFill>
                  <a:srgbClr val="CCCCCC"/>
                </a:solidFill>
                <a:latin typeface="Canva Sans"/>
                <a:ea typeface="Canva Sans"/>
                <a:cs typeface="Canva Sans"/>
                <a:sym typeface="Canva Sans"/>
              </a:rPr>
              <a:t>API REST robusta con Django REST Framework para lógica de negocio.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13096875" y="3295650"/>
            <a:ext cx="3238500" cy="4953000"/>
            <a:chOff x="0" y="0"/>
            <a:chExt cx="4318000" cy="66040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4318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4318000">
                  <a:moveTo>
                    <a:pt x="431800" y="0"/>
                  </a:moveTo>
                  <a:lnTo>
                    <a:pt x="3886200" y="0"/>
                  </a:lnTo>
                  <a:cubicBezTo>
                    <a:pt x="4124677" y="0"/>
                    <a:pt x="4318000" y="193323"/>
                    <a:pt x="4318000" y="431800"/>
                  </a:cubicBezTo>
                  <a:lnTo>
                    <a:pt x="4318000" y="6172200"/>
                  </a:lnTo>
                  <a:cubicBezTo>
                    <a:pt x="4318000" y="6410677"/>
                    <a:pt x="4124677" y="6604000"/>
                    <a:pt x="3886200" y="6604000"/>
                  </a:cubicBezTo>
                  <a:lnTo>
                    <a:pt x="431800" y="6604000"/>
                  </a:lnTo>
                  <a:cubicBezTo>
                    <a:pt x="193323" y="6604000"/>
                    <a:pt x="0" y="6410677"/>
                    <a:pt x="0" y="6172200"/>
                  </a:cubicBezTo>
                  <a:lnTo>
                    <a:pt x="0" y="431800"/>
                  </a:lnTo>
                  <a:cubicBezTo>
                    <a:pt x="0" y="193323"/>
                    <a:pt x="193323" y="0"/>
                    <a:pt x="4318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19050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4318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3096875" y="3295650"/>
            <a:ext cx="3238500" cy="57150"/>
            <a:chOff x="0" y="0"/>
            <a:chExt cx="4318000" cy="7620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4318000" cy="76200"/>
            </a:xfrm>
            <a:custGeom>
              <a:avLst/>
              <a:gdLst/>
              <a:ahLst/>
              <a:cxnLst/>
              <a:rect r="r" b="b" t="t" l="l"/>
              <a:pathLst>
                <a:path h="762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336791"/>
            </a:solid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431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4335125" y="3676650"/>
            <a:ext cx="762000" cy="762000"/>
            <a:chOff x="0" y="0"/>
            <a:chExt cx="1016000" cy="101600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016000" cy="1016000"/>
            </a:xfrm>
            <a:custGeom>
              <a:avLst/>
              <a:gdLst/>
              <a:ahLst/>
              <a:cxnLst/>
              <a:rect r="r" b="b" t="t" l="l"/>
              <a:pathLst>
                <a:path h="1016000" w="1016000">
                  <a:moveTo>
                    <a:pt x="508000" y="0"/>
                  </a:moveTo>
                  <a:cubicBezTo>
                    <a:pt x="227439" y="0"/>
                    <a:pt x="0" y="227439"/>
                    <a:pt x="0" y="508000"/>
                  </a:cubicBezTo>
                  <a:cubicBezTo>
                    <a:pt x="0" y="788561"/>
                    <a:pt x="227439" y="1016000"/>
                    <a:pt x="508000" y="1016000"/>
                  </a:cubicBezTo>
                  <a:cubicBezTo>
                    <a:pt x="788561" y="1016000"/>
                    <a:pt x="1016000" y="788561"/>
                    <a:pt x="1016000" y="508000"/>
                  </a:cubicBezTo>
                  <a:cubicBezTo>
                    <a:pt x="1016000" y="227439"/>
                    <a:pt x="788561" y="0"/>
                    <a:pt x="508000" y="0"/>
                  </a:cubicBezTo>
                  <a:close/>
                </a:path>
              </a:pathLst>
            </a:custGeom>
            <a:solidFill>
              <a:srgbClr val="336791">
                <a:alpha val="19608"/>
              </a:srgbClr>
            </a:solid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38100"/>
              <a:ext cx="1016000" cy="10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9" id="79"/>
          <p:cNvSpPr txBox="true"/>
          <p:nvPr/>
        </p:nvSpPr>
        <p:spPr>
          <a:xfrm rot="0">
            <a:off x="14335125" y="3629025"/>
            <a:ext cx="762000" cy="763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09"/>
              </a:lnSpc>
            </a:pPr>
            <a:r>
              <a:rPr lang="en-US" b="true" sz="4435">
                <a:solidFill>
                  <a:srgbClr val="050A3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PG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3287375" y="4619625"/>
            <a:ext cx="28575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Base de Datos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3287375" y="4953000"/>
            <a:ext cx="285750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79"/>
              </a:lnSpc>
            </a:pPr>
            <a:r>
              <a:rPr lang="en-US" sz="1599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PostgreSQL</a:t>
            </a:r>
          </a:p>
        </p:txBody>
      </p:sp>
      <p:sp>
        <p:nvSpPr>
          <p:cNvPr name="AutoShape 82" id="82"/>
          <p:cNvSpPr/>
          <p:nvPr/>
        </p:nvSpPr>
        <p:spPr>
          <a:xfrm>
            <a:off x="13382625" y="5343525"/>
            <a:ext cx="2667000" cy="0"/>
          </a:xfrm>
          <a:prstGeom prst="line">
            <a:avLst/>
          </a:prstGeom>
          <a:ln cap="flat" w="9525">
            <a:solidFill>
              <a:srgbClr val="4CAF5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3" id="83"/>
          <p:cNvSpPr txBox="true"/>
          <p:nvPr/>
        </p:nvSpPr>
        <p:spPr>
          <a:xfrm rot="0">
            <a:off x="13335000" y="5448300"/>
            <a:ext cx="2762250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500">
                <a:solidFill>
                  <a:srgbClr val="CCCCCC"/>
                </a:solidFill>
                <a:latin typeface="Canva Sans"/>
                <a:ea typeface="Canva Sans"/>
                <a:cs typeface="Canva Sans"/>
                <a:sym typeface="Canva Sans"/>
              </a:rPr>
              <a:t>Motor relacional potente para datos clínicos, métricas y usuarios.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6" id="86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476250" y="10033205"/>
            <a:ext cx="571500" cy="28575"/>
            <a:chOff x="0" y="0"/>
            <a:chExt cx="762000" cy="3810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17305622" y="10033205"/>
            <a:ext cx="571500" cy="28575"/>
            <a:chOff x="0" y="0"/>
            <a:chExt cx="762000" cy="38100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453085" y="1130484"/>
            <a:ext cx="11430000" cy="906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Objetivos del proyecto</a:t>
            </a:r>
          </a:p>
        </p:txBody>
      </p:sp>
      <p:sp>
        <p:nvSpPr>
          <p:cNvPr name="AutoShape 4" id="4"/>
          <p:cNvSpPr/>
          <p:nvPr/>
        </p:nvSpPr>
        <p:spPr>
          <a:xfrm>
            <a:off x="6786835" y="2140134"/>
            <a:ext cx="47625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6310585" y="2330634"/>
            <a:ext cx="57150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4CAF50"/>
                </a:solidFill>
                <a:latin typeface="Open Sans"/>
                <a:ea typeface="Open Sans"/>
                <a:cs typeface="Open Sans"/>
                <a:sym typeface="Open Sans"/>
              </a:rPr>
              <a:t>OBJETIVO GENERAL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500585" y="2597334"/>
            <a:ext cx="13335000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Desarrollar un PMV funcional compuesto por una plataforma web y una aplicación móvil para la gestión y seguimiento interactivo de terapias kinésicas.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358085" y="3771087"/>
            <a:ext cx="762000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OBJETIVOS ESPECÍFICOS</a:t>
            </a:r>
          </a:p>
        </p:txBody>
      </p:sp>
      <p:sp>
        <p:nvSpPr>
          <p:cNvPr name="AutoShape 8" id="8"/>
          <p:cNvSpPr/>
          <p:nvPr/>
        </p:nvSpPr>
        <p:spPr>
          <a:xfrm>
            <a:off x="7263085" y="4333062"/>
            <a:ext cx="3810000" cy="0"/>
          </a:xfrm>
          <a:prstGeom prst="line">
            <a:avLst/>
          </a:prstGeom>
          <a:ln cap="flat" w="1905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424260" y="4637862"/>
            <a:ext cx="3619500" cy="2286000"/>
            <a:chOff x="0" y="0"/>
            <a:chExt cx="4826000" cy="3048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826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4826000">
                  <a:moveTo>
                    <a:pt x="304800" y="0"/>
                  </a:moveTo>
                  <a:lnTo>
                    <a:pt x="4521200" y="0"/>
                  </a:lnTo>
                  <a:cubicBezTo>
                    <a:pt x="4689536" y="0"/>
                    <a:pt x="4826000" y="136464"/>
                    <a:pt x="4826000" y="304800"/>
                  </a:cubicBezTo>
                  <a:lnTo>
                    <a:pt x="4826000" y="2743200"/>
                  </a:lnTo>
                  <a:cubicBezTo>
                    <a:pt x="4826000" y="2911536"/>
                    <a:pt x="4689536" y="3048000"/>
                    <a:pt x="4521200" y="3048000"/>
                  </a:cubicBezTo>
                  <a:lnTo>
                    <a:pt x="304800" y="3048000"/>
                  </a:lnTo>
                  <a:cubicBezTo>
                    <a:pt x="136464" y="3048000"/>
                    <a:pt x="0" y="2911536"/>
                    <a:pt x="0" y="2743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19050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4826000" cy="308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062560" y="4466412"/>
            <a:ext cx="342900" cy="342900"/>
            <a:chOff x="0" y="0"/>
            <a:chExt cx="457200" cy="457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572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">
                  <a:moveTo>
                    <a:pt x="228600" y="0"/>
                  </a:moveTo>
                  <a:cubicBezTo>
                    <a:pt x="102348" y="0"/>
                    <a:pt x="0" y="102348"/>
                    <a:pt x="0" y="228600"/>
                  </a:cubicBezTo>
                  <a:cubicBezTo>
                    <a:pt x="0" y="354852"/>
                    <a:pt x="102348" y="457200"/>
                    <a:pt x="228600" y="457200"/>
                  </a:cubicBezTo>
                  <a:cubicBezTo>
                    <a:pt x="354852" y="457200"/>
                    <a:pt x="457200" y="354852"/>
                    <a:pt x="457200" y="228600"/>
                  </a:cubicBezTo>
                  <a:cubicBezTo>
                    <a:pt x="457200" y="102348"/>
                    <a:pt x="354852" y="0"/>
                    <a:pt x="228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457200" cy="495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062560" y="4418787"/>
            <a:ext cx="342900" cy="389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2"/>
              </a:lnSpc>
            </a:pPr>
            <a:r>
              <a:rPr lang="en-US" b="true" sz="230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14760" y="4904562"/>
            <a:ext cx="3238500" cy="160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0"/>
              </a:lnSpc>
            </a:pPr>
            <a:r>
              <a:rPr lang="en-US" sz="17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Diseñar y normalizar el modelo de datos relacional para usuarios, catálogo multimedia, pautas clínicas y registros de feedback.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5377135" y="4637862"/>
            <a:ext cx="3619500" cy="2286000"/>
            <a:chOff x="0" y="0"/>
            <a:chExt cx="4826000" cy="3048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826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4826000">
                  <a:moveTo>
                    <a:pt x="304800" y="0"/>
                  </a:moveTo>
                  <a:lnTo>
                    <a:pt x="4521200" y="0"/>
                  </a:lnTo>
                  <a:cubicBezTo>
                    <a:pt x="4689536" y="0"/>
                    <a:pt x="4826000" y="136464"/>
                    <a:pt x="4826000" y="304800"/>
                  </a:cubicBezTo>
                  <a:lnTo>
                    <a:pt x="4826000" y="2743200"/>
                  </a:lnTo>
                  <a:cubicBezTo>
                    <a:pt x="4826000" y="2911536"/>
                    <a:pt x="4689536" y="3048000"/>
                    <a:pt x="4521200" y="3048000"/>
                  </a:cubicBezTo>
                  <a:lnTo>
                    <a:pt x="304800" y="3048000"/>
                  </a:lnTo>
                  <a:cubicBezTo>
                    <a:pt x="136464" y="3048000"/>
                    <a:pt x="0" y="2911536"/>
                    <a:pt x="0" y="2743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19050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4826000" cy="308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015435" y="4466412"/>
            <a:ext cx="342900" cy="342900"/>
            <a:chOff x="0" y="0"/>
            <a:chExt cx="457200" cy="457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72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">
                  <a:moveTo>
                    <a:pt x="228600" y="0"/>
                  </a:moveTo>
                  <a:cubicBezTo>
                    <a:pt x="102348" y="0"/>
                    <a:pt x="0" y="102348"/>
                    <a:pt x="0" y="228600"/>
                  </a:cubicBezTo>
                  <a:cubicBezTo>
                    <a:pt x="0" y="354852"/>
                    <a:pt x="102348" y="457200"/>
                    <a:pt x="228600" y="457200"/>
                  </a:cubicBezTo>
                  <a:cubicBezTo>
                    <a:pt x="354852" y="457200"/>
                    <a:pt x="457200" y="354852"/>
                    <a:pt x="457200" y="228600"/>
                  </a:cubicBezTo>
                  <a:cubicBezTo>
                    <a:pt x="457200" y="102348"/>
                    <a:pt x="354852" y="0"/>
                    <a:pt x="228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57200" cy="495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015435" y="4418787"/>
            <a:ext cx="342900" cy="389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2"/>
              </a:lnSpc>
            </a:pPr>
            <a:r>
              <a:rPr lang="en-US" b="true" sz="230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567635" y="4971237"/>
            <a:ext cx="3238500" cy="1278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0"/>
              </a:lnSpc>
            </a:pPr>
            <a:r>
              <a:rPr lang="en-US" sz="17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Construir la app móvil con cronómetro interactivo, reproductor de ejercicios y escala de dolor.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330010" y="4637862"/>
            <a:ext cx="3619500" cy="2286000"/>
            <a:chOff x="0" y="0"/>
            <a:chExt cx="4826000" cy="3048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826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4826000">
                  <a:moveTo>
                    <a:pt x="304800" y="0"/>
                  </a:moveTo>
                  <a:lnTo>
                    <a:pt x="4521200" y="0"/>
                  </a:lnTo>
                  <a:cubicBezTo>
                    <a:pt x="4689536" y="0"/>
                    <a:pt x="4826000" y="136464"/>
                    <a:pt x="4826000" y="304800"/>
                  </a:cubicBezTo>
                  <a:lnTo>
                    <a:pt x="4826000" y="2743200"/>
                  </a:lnTo>
                  <a:cubicBezTo>
                    <a:pt x="4826000" y="2911536"/>
                    <a:pt x="4689536" y="3048000"/>
                    <a:pt x="4521200" y="3048000"/>
                  </a:cubicBezTo>
                  <a:lnTo>
                    <a:pt x="304800" y="3048000"/>
                  </a:lnTo>
                  <a:cubicBezTo>
                    <a:pt x="136464" y="3048000"/>
                    <a:pt x="0" y="2911536"/>
                    <a:pt x="0" y="2743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19050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4826000" cy="308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968310" y="4466412"/>
            <a:ext cx="342900" cy="342900"/>
            <a:chOff x="0" y="0"/>
            <a:chExt cx="457200" cy="4572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572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">
                  <a:moveTo>
                    <a:pt x="228600" y="0"/>
                  </a:moveTo>
                  <a:cubicBezTo>
                    <a:pt x="102348" y="0"/>
                    <a:pt x="0" y="102348"/>
                    <a:pt x="0" y="228600"/>
                  </a:cubicBezTo>
                  <a:cubicBezTo>
                    <a:pt x="0" y="354852"/>
                    <a:pt x="102348" y="457200"/>
                    <a:pt x="228600" y="457200"/>
                  </a:cubicBezTo>
                  <a:cubicBezTo>
                    <a:pt x="354852" y="457200"/>
                    <a:pt x="457200" y="354852"/>
                    <a:pt x="457200" y="228600"/>
                  </a:cubicBezTo>
                  <a:cubicBezTo>
                    <a:pt x="457200" y="102348"/>
                    <a:pt x="354852" y="0"/>
                    <a:pt x="228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457200" cy="495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0968310" y="4418787"/>
            <a:ext cx="342900" cy="389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2"/>
              </a:lnSpc>
            </a:pPr>
            <a:r>
              <a:rPr lang="en-US" b="true" sz="230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520510" y="4971237"/>
            <a:ext cx="3238500" cy="1278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0"/>
              </a:lnSpc>
            </a:pPr>
            <a:r>
              <a:rPr lang="en-US" sz="17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Co</a:t>
            </a:r>
            <a:r>
              <a:rPr lang="en-US" sz="17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nstruir el módulo web para la prescripción de rutinas y monitoreo mediante dashboards clínicos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3282885" y="4637862"/>
            <a:ext cx="3619500" cy="2286000"/>
            <a:chOff x="0" y="0"/>
            <a:chExt cx="4826000" cy="3048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826000" cy="3048000"/>
            </a:xfrm>
            <a:custGeom>
              <a:avLst/>
              <a:gdLst/>
              <a:ahLst/>
              <a:cxnLst/>
              <a:rect r="r" b="b" t="t" l="l"/>
              <a:pathLst>
                <a:path h="3048000" w="4826000">
                  <a:moveTo>
                    <a:pt x="304800" y="0"/>
                  </a:moveTo>
                  <a:lnTo>
                    <a:pt x="4521200" y="0"/>
                  </a:lnTo>
                  <a:cubicBezTo>
                    <a:pt x="4689536" y="0"/>
                    <a:pt x="4826000" y="136464"/>
                    <a:pt x="4826000" y="304800"/>
                  </a:cubicBezTo>
                  <a:lnTo>
                    <a:pt x="4826000" y="2743200"/>
                  </a:lnTo>
                  <a:cubicBezTo>
                    <a:pt x="4826000" y="2911536"/>
                    <a:pt x="4689536" y="3048000"/>
                    <a:pt x="4521200" y="3048000"/>
                  </a:cubicBezTo>
                  <a:lnTo>
                    <a:pt x="304800" y="3048000"/>
                  </a:lnTo>
                  <a:cubicBezTo>
                    <a:pt x="136464" y="3048000"/>
                    <a:pt x="0" y="2911536"/>
                    <a:pt x="0" y="2743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19050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4826000" cy="308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4921185" y="4466412"/>
            <a:ext cx="342900" cy="342900"/>
            <a:chOff x="0" y="0"/>
            <a:chExt cx="457200" cy="4572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57200" cy="457200"/>
            </a:xfrm>
            <a:custGeom>
              <a:avLst/>
              <a:gdLst/>
              <a:ahLst/>
              <a:cxnLst/>
              <a:rect r="r" b="b" t="t" l="l"/>
              <a:pathLst>
                <a:path h="457200" w="457200">
                  <a:moveTo>
                    <a:pt x="228600" y="0"/>
                  </a:moveTo>
                  <a:cubicBezTo>
                    <a:pt x="102348" y="0"/>
                    <a:pt x="0" y="102348"/>
                    <a:pt x="0" y="228600"/>
                  </a:cubicBezTo>
                  <a:cubicBezTo>
                    <a:pt x="0" y="354852"/>
                    <a:pt x="102348" y="457200"/>
                    <a:pt x="228600" y="457200"/>
                  </a:cubicBezTo>
                  <a:cubicBezTo>
                    <a:pt x="354852" y="457200"/>
                    <a:pt x="457200" y="354852"/>
                    <a:pt x="457200" y="228600"/>
                  </a:cubicBezTo>
                  <a:cubicBezTo>
                    <a:pt x="457200" y="102348"/>
                    <a:pt x="354852" y="0"/>
                    <a:pt x="228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457200" cy="495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4921185" y="4418787"/>
            <a:ext cx="342900" cy="389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2"/>
              </a:lnSpc>
            </a:pPr>
            <a:r>
              <a:rPr lang="en-US" b="true" sz="230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3473385" y="4971237"/>
            <a:ext cx="3238500" cy="1278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0"/>
              </a:lnSpc>
            </a:pPr>
            <a:r>
              <a:rPr lang="en-US" sz="17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Validar el flujo extremo a extremo (E2E) y el disparador de alertas clínicas ante dolor severo (≥7/10). 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476250" y="9810750"/>
            <a:ext cx="571500" cy="28575"/>
            <a:chOff x="0" y="0"/>
            <a:chExt cx="762000" cy="381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7240250" y="9810750"/>
            <a:ext cx="571500" cy="28575"/>
            <a:chOff x="0" y="0"/>
            <a:chExt cx="762000" cy="381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76250" y="9810750"/>
            <a:ext cx="571500" cy="28575"/>
            <a:chOff x="0" y="0"/>
            <a:chExt cx="7620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240250" y="9810750"/>
            <a:ext cx="571500" cy="28575"/>
            <a:chOff x="0" y="0"/>
            <a:chExt cx="7620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429000" y="752475"/>
            <a:ext cx="1143000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Metodología y Factibilidad</a:t>
            </a:r>
          </a:p>
        </p:txBody>
      </p:sp>
      <p:sp>
        <p:nvSpPr>
          <p:cNvPr name="AutoShape 16" id="16"/>
          <p:cNvSpPr/>
          <p:nvPr/>
        </p:nvSpPr>
        <p:spPr>
          <a:xfrm>
            <a:off x="6762750" y="1581150"/>
            <a:ext cx="47625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4381500" y="1695450"/>
            <a:ext cx="9525000" cy="29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>
                <a:solidFill>
                  <a:srgbClr val="94D3C8"/>
                </a:solidFill>
                <a:latin typeface="Canva Sans"/>
                <a:ea typeface="Canva Sans"/>
                <a:cs typeface="Canva Sans"/>
                <a:sym typeface="Canva Sans"/>
              </a:rPr>
              <a:t>Enfoque ágil con validación técnica, operativa y económica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239000" y="2286000"/>
            <a:ext cx="381000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4CAF50"/>
                </a:solidFill>
                <a:latin typeface="Open Sans"/>
                <a:ea typeface="Open Sans"/>
                <a:cs typeface="Open Sans"/>
                <a:sym typeface="Open Sans"/>
              </a:rPr>
              <a:t>METODOLOGÍA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428750" y="2686050"/>
            <a:ext cx="4953000" cy="2476500"/>
            <a:chOff x="0" y="0"/>
            <a:chExt cx="6604000" cy="3302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604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6604000">
                  <a:moveTo>
                    <a:pt x="330200" y="0"/>
                  </a:moveTo>
                  <a:lnTo>
                    <a:pt x="6273800" y="0"/>
                  </a:lnTo>
                  <a:cubicBezTo>
                    <a:pt x="6456164" y="0"/>
                    <a:pt x="6604000" y="147836"/>
                    <a:pt x="6604000" y="330200"/>
                  </a:cubicBezTo>
                  <a:lnTo>
                    <a:pt x="6604000" y="2971800"/>
                  </a:lnTo>
                  <a:cubicBezTo>
                    <a:pt x="6604000" y="3154164"/>
                    <a:pt x="6456164" y="3302000"/>
                    <a:pt x="6273800" y="3302000"/>
                  </a:cubicBezTo>
                  <a:lnTo>
                    <a:pt x="330200" y="3302000"/>
                  </a:lnTo>
                  <a:cubicBezTo>
                    <a:pt x="147836" y="3302000"/>
                    <a:pt x="0" y="3154164"/>
                    <a:pt x="0" y="2971800"/>
                  </a:cubicBezTo>
                  <a:lnTo>
                    <a:pt x="0" y="330200"/>
                  </a:lnTo>
                  <a:cubicBezTo>
                    <a:pt x="0" y="147836"/>
                    <a:pt x="147836" y="0"/>
                    <a:pt x="3302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9525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6604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428750" y="2686050"/>
            <a:ext cx="4953000" cy="38100"/>
            <a:chOff x="0" y="0"/>
            <a:chExt cx="6604000" cy="50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604000" cy="50800"/>
            </a:xfrm>
            <a:custGeom>
              <a:avLst/>
              <a:gdLst/>
              <a:ahLst/>
              <a:cxnLst/>
              <a:rect r="r" b="b" t="t" l="l"/>
              <a:pathLst>
                <a:path h="50800" w="6604000">
                  <a:moveTo>
                    <a:pt x="0" y="0"/>
                  </a:moveTo>
                  <a:lnTo>
                    <a:pt x="6604000" y="0"/>
                  </a:lnTo>
                  <a:lnTo>
                    <a:pt x="6604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6604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657350" y="2876550"/>
            <a:ext cx="381000" cy="381000"/>
            <a:chOff x="0" y="0"/>
            <a:chExt cx="508000" cy="508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657350" y="281940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b="true" sz="2515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152650" y="2943225"/>
            <a:ext cx="40005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>
                <a:solidFill>
                  <a:srgbClr val="94D3C8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Scrum Adaptado</a:t>
            </a:r>
          </a:p>
        </p:txBody>
      </p:sp>
      <p:sp>
        <p:nvSpPr>
          <p:cNvPr name="AutoShape 30" id="30"/>
          <p:cNvSpPr/>
          <p:nvPr/>
        </p:nvSpPr>
        <p:spPr>
          <a:xfrm>
            <a:off x="1657350" y="3400425"/>
            <a:ext cx="4495800" cy="0"/>
          </a:xfrm>
          <a:prstGeom prst="line">
            <a:avLst/>
          </a:prstGeom>
          <a:ln cap="flat" w="9525">
            <a:solidFill>
              <a:srgbClr val="4CAF5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1" id="31"/>
          <p:cNvSpPr txBox="true"/>
          <p:nvPr/>
        </p:nvSpPr>
        <p:spPr>
          <a:xfrm rot="0">
            <a:off x="1657350" y="3505200"/>
            <a:ext cx="4495800" cy="862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9"/>
              </a:lnSpc>
            </a:pPr>
            <a:r>
              <a:rPr lang="en-US" sz="1599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Sprints de 2 semanas con revisiones incrementales. Backlog priorizado por valor clínico y complejidad técnica.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6667500" y="2686050"/>
            <a:ext cx="4953000" cy="2476500"/>
            <a:chOff x="0" y="0"/>
            <a:chExt cx="6604000" cy="3302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604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6604000">
                  <a:moveTo>
                    <a:pt x="330200" y="0"/>
                  </a:moveTo>
                  <a:lnTo>
                    <a:pt x="6273800" y="0"/>
                  </a:lnTo>
                  <a:cubicBezTo>
                    <a:pt x="6456164" y="0"/>
                    <a:pt x="6604000" y="147836"/>
                    <a:pt x="6604000" y="330200"/>
                  </a:cubicBezTo>
                  <a:lnTo>
                    <a:pt x="6604000" y="2971800"/>
                  </a:lnTo>
                  <a:cubicBezTo>
                    <a:pt x="6604000" y="3154164"/>
                    <a:pt x="6456164" y="3302000"/>
                    <a:pt x="6273800" y="3302000"/>
                  </a:cubicBezTo>
                  <a:lnTo>
                    <a:pt x="330200" y="3302000"/>
                  </a:lnTo>
                  <a:cubicBezTo>
                    <a:pt x="147836" y="3302000"/>
                    <a:pt x="0" y="3154164"/>
                    <a:pt x="0" y="2971800"/>
                  </a:cubicBezTo>
                  <a:lnTo>
                    <a:pt x="0" y="330200"/>
                  </a:lnTo>
                  <a:cubicBezTo>
                    <a:pt x="0" y="147836"/>
                    <a:pt x="147836" y="0"/>
                    <a:pt x="3302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9525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6604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667500" y="2686050"/>
            <a:ext cx="4953000" cy="38100"/>
            <a:chOff x="0" y="0"/>
            <a:chExt cx="6604000" cy="50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604000" cy="50800"/>
            </a:xfrm>
            <a:custGeom>
              <a:avLst/>
              <a:gdLst/>
              <a:ahLst/>
              <a:cxnLst/>
              <a:rect r="r" b="b" t="t" l="l"/>
              <a:pathLst>
                <a:path h="50800" w="6604000">
                  <a:moveTo>
                    <a:pt x="0" y="0"/>
                  </a:moveTo>
                  <a:lnTo>
                    <a:pt x="6604000" y="0"/>
                  </a:lnTo>
                  <a:lnTo>
                    <a:pt x="6604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6604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896100" y="2876550"/>
            <a:ext cx="381000" cy="381000"/>
            <a:chOff x="0" y="0"/>
            <a:chExt cx="508000" cy="5080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6896100" y="281940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b="true" sz="2515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02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391400" y="2943225"/>
            <a:ext cx="40005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>
                <a:solidFill>
                  <a:srgbClr val="94D3C8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Diseño Centrado en Usuario</a:t>
            </a:r>
          </a:p>
        </p:txBody>
      </p:sp>
      <p:sp>
        <p:nvSpPr>
          <p:cNvPr name="AutoShape 43" id="43"/>
          <p:cNvSpPr/>
          <p:nvPr/>
        </p:nvSpPr>
        <p:spPr>
          <a:xfrm>
            <a:off x="6896100" y="3400425"/>
            <a:ext cx="4495800" cy="0"/>
          </a:xfrm>
          <a:prstGeom prst="line">
            <a:avLst/>
          </a:prstGeom>
          <a:ln cap="flat" w="9525">
            <a:solidFill>
              <a:srgbClr val="4CAF5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4" id="44"/>
          <p:cNvSpPr txBox="true"/>
          <p:nvPr/>
        </p:nvSpPr>
        <p:spPr>
          <a:xfrm rot="0">
            <a:off x="6896100" y="3505200"/>
            <a:ext cx="4495800" cy="862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9"/>
              </a:lnSpc>
            </a:pPr>
            <a:r>
              <a:rPr lang="en-US" sz="1599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Prototipos validados con kinesiólogos y pacientes. Iteraciones basadas en feedback real del flujo terapéutico.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1906250" y="2686050"/>
            <a:ext cx="4953000" cy="2476500"/>
            <a:chOff x="0" y="0"/>
            <a:chExt cx="6604000" cy="33020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04000" cy="3302000"/>
            </a:xfrm>
            <a:custGeom>
              <a:avLst/>
              <a:gdLst/>
              <a:ahLst/>
              <a:cxnLst/>
              <a:rect r="r" b="b" t="t" l="l"/>
              <a:pathLst>
                <a:path h="3302000" w="6604000">
                  <a:moveTo>
                    <a:pt x="330200" y="0"/>
                  </a:moveTo>
                  <a:lnTo>
                    <a:pt x="6273800" y="0"/>
                  </a:lnTo>
                  <a:cubicBezTo>
                    <a:pt x="6456164" y="0"/>
                    <a:pt x="6604000" y="147836"/>
                    <a:pt x="6604000" y="330200"/>
                  </a:cubicBezTo>
                  <a:lnTo>
                    <a:pt x="6604000" y="2971800"/>
                  </a:lnTo>
                  <a:cubicBezTo>
                    <a:pt x="6604000" y="3154164"/>
                    <a:pt x="6456164" y="3302000"/>
                    <a:pt x="6273800" y="3302000"/>
                  </a:cubicBezTo>
                  <a:lnTo>
                    <a:pt x="330200" y="3302000"/>
                  </a:lnTo>
                  <a:cubicBezTo>
                    <a:pt x="147836" y="3302000"/>
                    <a:pt x="0" y="3154164"/>
                    <a:pt x="0" y="2971800"/>
                  </a:cubicBezTo>
                  <a:lnTo>
                    <a:pt x="0" y="330200"/>
                  </a:lnTo>
                  <a:cubicBezTo>
                    <a:pt x="0" y="147836"/>
                    <a:pt x="147836" y="0"/>
                    <a:pt x="330200" y="0"/>
                  </a:cubicBezTo>
                  <a:close/>
                </a:path>
              </a:pathLst>
            </a:custGeom>
            <a:solidFill>
              <a:srgbClr val="1E4D35">
                <a:alpha val="84706"/>
              </a:srgbClr>
            </a:solidFill>
            <a:ln w="9525" cap="sq">
              <a:solidFill>
                <a:srgbClr val="4CAF50">
                  <a:alpha val="84706"/>
                </a:srgbClr>
              </a:solidFill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6604000" cy="334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1906250" y="2686050"/>
            <a:ext cx="4953000" cy="38100"/>
            <a:chOff x="0" y="0"/>
            <a:chExt cx="6604000" cy="50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604000" cy="50800"/>
            </a:xfrm>
            <a:custGeom>
              <a:avLst/>
              <a:gdLst/>
              <a:ahLst/>
              <a:cxnLst/>
              <a:rect r="r" b="b" t="t" l="l"/>
              <a:pathLst>
                <a:path h="50800" w="6604000">
                  <a:moveTo>
                    <a:pt x="0" y="0"/>
                  </a:moveTo>
                  <a:lnTo>
                    <a:pt x="6604000" y="0"/>
                  </a:lnTo>
                  <a:lnTo>
                    <a:pt x="6604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6604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2134850" y="2876550"/>
            <a:ext cx="381000" cy="381000"/>
            <a:chOff x="0" y="0"/>
            <a:chExt cx="508000" cy="5080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2134850" y="281940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b="true" sz="2515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03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2630150" y="2943225"/>
            <a:ext cx="40005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>
                <a:solidFill>
                  <a:srgbClr val="94D3C8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Integración Continua</a:t>
            </a:r>
          </a:p>
        </p:txBody>
      </p:sp>
      <p:sp>
        <p:nvSpPr>
          <p:cNvPr name="AutoShape 56" id="56"/>
          <p:cNvSpPr/>
          <p:nvPr/>
        </p:nvSpPr>
        <p:spPr>
          <a:xfrm>
            <a:off x="12134850" y="3400425"/>
            <a:ext cx="4495800" cy="0"/>
          </a:xfrm>
          <a:prstGeom prst="line">
            <a:avLst/>
          </a:prstGeom>
          <a:ln cap="flat" w="9525">
            <a:solidFill>
              <a:srgbClr val="4CAF5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7" id="57"/>
          <p:cNvSpPr txBox="true"/>
          <p:nvPr/>
        </p:nvSpPr>
        <p:spPr>
          <a:xfrm rot="0">
            <a:off x="12134850" y="3505200"/>
            <a:ext cx="4495800" cy="862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9"/>
              </a:lnSpc>
            </a:pPr>
            <a:r>
              <a:rPr lang="en-US" sz="1599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Pipeline CI/CD con pruebas automatizadas. Deploy progresivo para validar cada módulo antes de avanzar.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7239000" y="5495925"/>
            <a:ext cx="3810000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400">
                <a:solidFill>
                  <a:srgbClr val="4CAF50"/>
                </a:solidFill>
                <a:latin typeface="Open Sans"/>
                <a:ea typeface="Open Sans"/>
                <a:cs typeface="Open Sans"/>
                <a:sym typeface="Open Sans"/>
              </a:rPr>
              <a:t>FACTIBILIDAD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428750" y="5895975"/>
            <a:ext cx="4953000" cy="1714500"/>
            <a:chOff x="0" y="0"/>
            <a:chExt cx="6604000" cy="22860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6604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6604000">
                  <a:moveTo>
                    <a:pt x="228600" y="0"/>
                  </a:moveTo>
                  <a:lnTo>
                    <a:pt x="6375400" y="0"/>
                  </a:lnTo>
                  <a:cubicBezTo>
                    <a:pt x="6501652" y="0"/>
                    <a:pt x="6604000" y="102348"/>
                    <a:pt x="6604000" y="228600"/>
                  </a:cubicBezTo>
                  <a:lnTo>
                    <a:pt x="6604000" y="2057400"/>
                  </a:lnTo>
                  <a:cubicBezTo>
                    <a:pt x="6604000" y="2183652"/>
                    <a:pt x="6501652" y="2286000"/>
                    <a:pt x="6375400" y="2286000"/>
                  </a:cubicBezTo>
                  <a:lnTo>
                    <a:pt x="228600" y="2286000"/>
                  </a:lnTo>
                  <a:cubicBezTo>
                    <a:pt x="102348" y="2286000"/>
                    <a:pt x="0" y="2183652"/>
                    <a:pt x="0" y="2057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1E4D35">
                <a:alpha val="69804"/>
              </a:srgbClr>
            </a:solidFill>
            <a:ln w="9525" cap="sq">
              <a:solidFill>
                <a:srgbClr val="94D3C8">
                  <a:alpha val="69804"/>
                </a:srgbClr>
              </a:solidFill>
              <a:prstDash val="solid"/>
              <a:miter/>
            </a:ln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6604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657350" y="6086475"/>
            <a:ext cx="419100" cy="419100"/>
            <a:chOff x="0" y="0"/>
            <a:chExt cx="558800" cy="5588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558800" cy="558800"/>
            </a:xfrm>
            <a:custGeom>
              <a:avLst/>
              <a:gdLst/>
              <a:ahLst/>
              <a:cxnLst/>
              <a:rect r="r" b="b" t="t" l="l"/>
              <a:pathLst>
                <a:path h="558800" w="558800">
                  <a:moveTo>
                    <a:pt x="279400" y="0"/>
                  </a:moveTo>
                  <a:cubicBezTo>
                    <a:pt x="125092" y="0"/>
                    <a:pt x="0" y="125092"/>
                    <a:pt x="0" y="279400"/>
                  </a:cubicBezTo>
                  <a:cubicBezTo>
                    <a:pt x="0" y="433708"/>
                    <a:pt x="125092" y="558800"/>
                    <a:pt x="279400" y="558800"/>
                  </a:cubicBezTo>
                  <a:cubicBezTo>
                    <a:pt x="433708" y="558800"/>
                    <a:pt x="558800" y="433708"/>
                    <a:pt x="558800" y="279400"/>
                  </a:cubicBezTo>
                  <a:cubicBezTo>
                    <a:pt x="558800" y="125092"/>
                    <a:pt x="433708" y="0"/>
                    <a:pt x="279400" y="0"/>
                  </a:cubicBez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1657350" y="6038850"/>
            <a:ext cx="419100" cy="462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7"/>
              </a:lnSpc>
            </a:pPr>
            <a:r>
              <a:rPr lang="en-US" b="true" sz="2783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✓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2190750" y="6153150"/>
            <a:ext cx="39052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Técnica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657350" y="6629400"/>
            <a:ext cx="449580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5"/>
              </a:lnSpc>
            </a:pPr>
            <a:r>
              <a:rPr lang="en-US" sz="15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Stack probado (Django + React Native + PostgreSQL). Equipo con experiencia en cada tecnología.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6667500" y="5895975"/>
            <a:ext cx="4953000" cy="1714500"/>
            <a:chOff x="0" y="0"/>
            <a:chExt cx="6604000" cy="22860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604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6604000">
                  <a:moveTo>
                    <a:pt x="228600" y="0"/>
                  </a:moveTo>
                  <a:lnTo>
                    <a:pt x="6375400" y="0"/>
                  </a:lnTo>
                  <a:cubicBezTo>
                    <a:pt x="6501652" y="0"/>
                    <a:pt x="6604000" y="102348"/>
                    <a:pt x="6604000" y="228600"/>
                  </a:cubicBezTo>
                  <a:lnTo>
                    <a:pt x="6604000" y="2057400"/>
                  </a:lnTo>
                  <a:cubicBezTo>
                    <a:pt x="6604000" y="2183652"/>
                    <a:pt x="6501652" y="2286000"/>
                    <a:pt x="6375400" y="2286000"/>
                  </a:cubicBezTo>
                  <a:lnTo>
                    <a:pt x="228600" y="2286000"/>
                  </a:lnTo>
                  <a:cubicBezTo>
                    <a:pt x="102348" y="2286000"/>
                    <a:pt x="0" y="2183652"/>
                    <a:pt x="0" y="2057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1E4D35">
                <a:alpha val="69804"/>
              </a:srgbClr>
            </a:solidFill>
            <a:ln w="9525" cap="sq">
              <a:solidFill>
                <a:srgbClr val="94D3C8">
                  <a:alpha val="69804"/>
                </a:srgbClr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6604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6896100" y="6086475"/>
            <a:ext cx="419100" cy="419100"/>
            <a:chOff x="0" y="0"/>
            <a:chExt cx="558800" cy="5588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58800" cy="558800"/>
            </a:xfrm>
            <a:custGeom>
              <a:avLst/>
              <a:gdLst/>
              <a:ahLst/>
              <a:cxnLst/>
              <a:rect r="r" b="b" t="t" l="l"/>
              <a:pathLst>
                <a:path h="558800" w="558800">
                  <a:moveTo>
                    <a:pt x="279400" y="0"/>
                  </a:moveTo>
                  <a:cubicBezTo>
                    <a:pt x="125092" y="0"/>
                    <a:pt x="0" y="125092"/>
                    <a:pt x="0" y="279400"/>
                  </a:cubicBezTo>
                  <a:cubicBezTo>
                    <a:pt x="0" y="433708"/>
                    <a:pt x="125092" y="558800"/>
                    <a:pt x="279400" y="558800"/>
                  </a:cubicBezTo>
                  <a:cubicBezTo>
                    <a:pt x="433708" y="558800"/>
                    <a:pt x="558800" y="433708"/>
                    <a:pt x="558800" y="279400"/>
                  </a:cubicBezTo>
                  <a:cubicBezTo>
                    <a:pt x="558800" y="125092"/>
                    <a:pt x="433708" y="0"/>
                    <a:pt x="279400" y="0"/>
                  </a:cubicBez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6896100" y="6038850"/>
            <a:ext cx="419100" cy="456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7"/>
              </a:lnSpc>
            </a:pPr>
            <a:r>
              <a:rPr lang="en-US" b="true" sz="2648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⚙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7429500" y="6153150"/>
            <a:ext cx="39052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Operativa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6896100" y="6629400"/>
            <a:ext cx="449580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5"/>
              </a:lnSpc>
            </a:pPr>
            <a:r>
              <a:rPr lang="en-US" sz="15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Flujo validado con profesionales de kinesiología. Integración natural al proceso clínico existente.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11906250" y="5895975"/>
            <a:ext cx="4953000" cy="1714500"/>
            <a:chOff x="0" y="0"/>
            <a:chExt cx="6604000" cy="228600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604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6604000">
                  <a:moveTo>
                    <a:pt x="228600" y="0"/>
                  </a:moveTo>
                  <a:lnTo>
                    <a:pt x="6375400" y="0"/>
                  </a:lnTo>
                  <a:cubicBezTo>
                    <a:pt x="6501652" y="0"/>
                    <a:pt x="6604000" y="102348"/>
                    <a:pt x="6604000" y="228600"/>
                  </a:cubicBezTo>
                  <a:lnTo>
                    <a:pt x="6604000" y="2057400"/>
                  </a:lnTo>
                  <a:cubicBezTo>
                    <a:pt x="6604000" y="2183652"/>
                    <a:pt x="6501652" y="2286000"/>
                    <a:pt x="6375400" y="2286000"/>
                  </a:cubicBezTo>
                  <a:lnTo>
                    <a:pt x="228600" y="2286000"/>
                  </a:lnTo>
                  <a:cubicBezTo>
                    <a:pt x="102348" y="2286000"/>
                    <a:pt x="0" y="2183652"/>
                    <a:pt x="0" y="2057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1E4D35">
                <a:alpha val="69804"/>
              </a:srgbClr>
            </a:solidFill>
            <a:ln w="9525" cap="sq">
              <a:solidFill>
                <a:srgbClr val="94D3C8">
                  <a:alpha val="69804"/>
                </a:srgbClr>
              </a:solidFill>
              <a:prstDash val="solid"/>
              <a:miter/>
            </a:ln>
          </p:spPr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6604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2134850" y="6086475"/>
            <a:ext cx="419100" cy="419100"/>
            <a:chOff x="0" y="0"/>
            <a:chExt cx="558800" cy="55880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558800" cy="558800"/>
            </a:xfrm>
            <a:custGeom>
              <a:avLst/>
              <a:gdLst/>
              <a:ahLst/>
              <a:cxnLst/>
              <a:rect r="r" b="b" t="t" l="l"/>
              <a:pathLst>
                <a:path h="558800" w="558800">
                  <a:moveTo>
                    <a:pt x="279400" y="0"/>
                  </a:moveTo>
                  <a:cubicBezTo>
                    <a:pt x="125092" y="0"/>
                    <a:pt x="0" y="125092"/>
                    <a:pt x="0" y="279400"/>
                  </a:cubicBezTo>
                  <a:cubicBezTo>
                    <a:pt x="0" y="433708"/>
                    <a:pt x="125092" y="558800"/>
                    <a:pt x="279400" y="558800"/>
                  </a:cubicBezTo>
                  <a:cubicBezTo>
                    <a:pt x="433708" y="558800"/>
                    <a:pt x="558800" y="433708"/>
                    <a:pt x="558800" y="279400"/>
                  </a:cubicBezTo>
                  <a:cubicBezTo>
                    <a:pt x="558800" y="125092"/>
                    <a:pt x="433708" y="0"/>
                    <a:pt x="279400" y="0"/>
                  </a:cubicBezTo>
                  <a:close/>
                </a:path>
              </a:pathLst>
            </a:custGeom>
            <a:solidFill>
              <a:srgbClr val="94D3C8"/>
            </a:solid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3" id="83"/>
          <p:cNvSpPr txBox="true"/>
          <p:nvPr/>
        </p:nvSpPr>
        <p:spPr>
          <a:xfrm rot="0">
            <a:off x="12134850" y="6038850"/>
            <a:ext cx="419100" cy="462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7"/>
              </a:lnSpc>
            </a:pPr>
            <a:r>
              <a:rPr lang="en-US" b="true" sz="2783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$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12668250" y="6153150"/>
            <a:ext cx="390525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Económica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2134850" y="6629400"/>
            <a:ext cx="449580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5"/>
              </a:lnSpc>
            </a:pPr>
            <a:r>
              <a:rPr lang="en-US" sz="15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Infraestructura cloud escalable con costos controlados. Modelo freemium viable desde el PMV.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76250" y="9810750"/>
            <a:ext cx="571500" cy="28575"/>
            <a:chOff x="0" y="0"/>
            <a:chExt cx="7620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240250" y="9810750"/>
            <a:ext cx="571500" cy="28575"/>
            <a:chOff x="0" y="0"/>
            <a:chExt cx="7620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429000" y="657225"/>
            <a:ext cx="1143000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Estimación de Esfuerzo y Complejidad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81500" y="1438275"/>
            <a:ext cx="95250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>
                <a:solidFill>
                  <a:srgbClr val="94D3C8"/>
                </a:solidFill>
                <a:latin typeface="Canva Sans"/>
                <a:ea typeface="Canva Sans"/>
                <a:cs typeface="Canva Sans"/>
                <a:sym typeface="Canva Sans"/>
              </a:rPr>
              <a:t>Dimensionamiento de Épicas mediante Planning Poker — Secuencia de Fibonacci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762750" y="1838325"/>
            <a:ext cx="47625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0">
            <a:off x="1066800" y="2314575"/>
            <a:ext cx="533400" cy="533400"/>
            <a:chOff x="0" y="0"/>
            <a:chExt cx="711200" cy="711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066800" y="2495550"/>
            <a:ext cx="533400" cy="175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9"/>
              </a:lnSpc>
            </a:pPr>
            <a:r>
              <a:rPr lang="en-US" b="true" sz="1299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13 SP</a:t>
            </a:r>
          </a:p>
        </p:txBody>
      </p:sp>
      <p:sp>
        <p:nvSpPr>
          <p:cNvPr name="AutoShape 22" id="22"/>
          <p:cNvSpPr/>
          <p:nvPr/>
        </p:nvSpPr>
        <p:spPr>
          <a:xfrm>
            <a:off x="1600200" y="2581275"/>
            <a:ext cx="495300" cy="0"/>
          </a:xfrm>
          <a:prstGeom prst="line">
            <a:avLst/>
          </a:prstGeom>
          <a:ln cap="flat" w="19050">
            <a:solidFill>
              <a:srgbClr val="4CAF50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3" id="23"/>
          <p:cNvSpPr txBox="true"/>
          <p:nvPr/>
        </p:nvSpPr>
        <p:spPr>
          <a:xfrm rot="0">
            <a:off x="2095500" y="2305050"/>
            <a:ext cx="15240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Épica 001: Gestión y Asignación de Pautas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095500" y="2571750"/>
            <a:ext cx="15240000" cy="260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0000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Modelado relacional en Django ORM, CRUD de pacientes por RUT, catálogo multimedia filtrable y formulario parametrizado (series, repeticiones, descansos).</a:t>
            </a:r>
          </a:p>
        </p:txBody>
      </p:sp>
      <p:sp>
        <p:nvSpPr>
          <p:cNvPr name="AutoShape 25" id="25"/>
          <p:cNvSpPr/>
          <p:nvPr/>
        </p:nvSpPr>
        <p:spPr>
          <a:xfrm>
            <a:off x="2095500" y="3362325"/>
            <a:ext cx="15049500" cy="0"/>
          </a:xfrm>
          <a:prstGeom prst="line">
            <a:avLst/>
          </a:prstGeom>
          <a:ln cap="flat" w="9525">
            <a:solidFill>
              <a:srgbClr val="94D3C8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066800" y="3552825"/>
            <a:ext cx="533400" cy="533400"/>
            <a:chOff x="0" y="0"/>
            <a:chExt cx="711200" cy="7112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066800" y="3733800"/>
            <a:ext cx="533400" cy="175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9"/>
              </a:lnSpc>
            </a:pPr>
            <a:r>
              <a:rPr lang="en-US" b="true" sz="1299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21 SP</a:t>
            </a:r>
          </a:p>
        </p:txBody>
      </p:sp>
      <p:sp>
        <p:nvSpPr>
          <p:cNvPr name="AutoShape 30" id="30"/>
          <p:cNvSpPr/>
          <p:nvPr/>
        </p:nvSpPr>
        <p:spPr>
          <a:xfrm>
            <a:off x="1600200" y="3819525"/>
            <a:ext cx="495300" cy="0"/>
          </a:xfrm>
          <a:prstGeom prst="line">
            <a:avLst/>
          </a:prstGeom>
          <a:ln cap="flat" w="19050">
            <a:solidFill>
              <a:srgbClr val="4CAF50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1" id="31"/>
          <p:cNvSpPr txBox="true"/>
          <p:nvPr/>
        </p:nvSpPr>
        <p:spPr>
          <a:xfrm rot="0">
            <a:off x="2095500" y="3543300"/>
            <a:ext cx="15240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Épica 002: Ejecución Guiada y Feedback Móvil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095500" y="3810000"/>
            <a:ext cx="15240000" cy="260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0000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Integración React Native/Expo, reproductor multimedia en bucle, cronómetro interactivo con bloqueo de marcado rápido y captura de escala de dolor (1-10).</a:t>
            </a:r>
          </a:p>
        </p:txBody>
      </p:sp>
      <p:sp>
        <p:nvSpPr>
          <p:cNvPr name="AutoShape 33" id="33"/>
          <p:cNvSpPr/>
          <p:nvPr/>
        </p:nvSpPr>
        <p:spPr>
          <a:xfrm>
            <a:off x="2095500" y="4600575"/>
            <a:ext cx="15049500" cy="0"/>
          </a:xfrm>
          <a:prstGeom prst="line">
            <a:avLst/>
          </a:prstGeom>
          <a:ln cap="flat" w="9525">
            <a:solidFill>
              <a:srgbClr val="94D3C8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4" id="34"/>
          <p:cNvGrpSpPr/>
          <p:nvPr/>
        </p:nvGrpSpPr>
        <p:grpSpPr>
          <a:xfrm rot="0">
            <a:off x="1066800" y="4791075"/>
            <a:ext cx="533400" cy="533400"/>
            <a:chOff x="0" y="0"/>
            <a:chExt cx="711200" cy="7112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066800" y="4972050"/>
            <a:ext cx="533400" cy="175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9"/>
              </a:lnSpc>
            </a:pPr>
            <a:r>
              <a:rPr lang="en-US" b="true" sz="1299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13 SP</a:t>
            </a:r>
          </a:p>
        </p:txBody>
      </p:sp>
      <p:sp>
        <p:nvSpPr>
          <p:cNvPr name="AutoShape 38" id="38"/>
          <p:cNvSpPr/>
          <p:nvPr/>
        </p:nvSpPr>
        <p:spPr>
          <a:xfrm>
            <a:off x="1600200" y="5057775"/>
            <a:ext cx="495300" cy="0"/>
          </a:xfrm>
          <a:prstGeom prst="line">
            <a:avLst/>
          </a:prstGeom>
          <a:ln cap="flat" w="19050">
            <a:solidFill>
              <a:srgbClr val="4CAF50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9" id="39"/>
          <p:cNvSpPr txBox="true"/>
          <p:nvPr/>
        </p:nvSpPr>
        <p:spPr>
          <a:xfrm rot="0">
            <a:off x="2095500" y="4781550"/>
            <a:ext cx="15240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Épica 003: Monitoreo en Vivo y Alertas Clínicas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2095500" y="5048250"/>
            <a:ext cx="15240000" cy="260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0000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Dashboard clínico de supervisión simultánea, cálculo de tasa de adherencia semanal y alerta visual inmediata ante dolor severo (≥ 7/10).</a:t>
            </a:r>
          </a:p>
        </p:txBody>
      </p:sp>
      <p:sp>
        <p:nvSpPr>
          <p:cNvPr name="AutoShape 41" id="41"/>
          <p:cNvSpPr/>
          <p:nvPr/>
        </p:nvSpPr>
        <p:spPr>
          <a:xfrm>
            <a:off x="2095500" y="5838825"/>
            <a:ext cx="15049500" cy="0"/>
          </a:xfrm>
          <a:prstGeom prst="line">
            <a:avLst/>
          </a:prstGeom>
          <a:ln cap="flat" w="9525">
            <a:solidFill>
              <a:srgbClr val="94D3C8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2" id="42"/>
          <p:cNvGrpSpPr/>
          <p:nvPr/>
        </p:nvGrpSpPr>
        <p:grpSpPr>
          <a:xfrm rot="0">
            <a:off x="1066800" y="6029325"/>
            <a:ext cx="533400" cy="533400"/>
            <a:chOff x="0" y="0"/>
            <a:chExt cx="711200" cy="7112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066800" y="6210300"/>
            <a:ext cx="533400" cy="175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9"/>
              </a:lnSpc>
            </a:pPr>
            <a:r>
              <a:rPr lang="en-US" b="true" sz="1299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 SP</a:t>
            </a:r>
          </a:p>
        </p:txBody>
      </p:sp>
      <p:sp>
        <p:nvSpPr>
          <p:cNvPr name="AutoShape 46" id="46"/>
          <p:cNvSpPr/>
          <p:nvPr/>
        </p:nvSpPr>
        <p:spPr>
          <a:xfrm>
            <a:off x="1600200" y="6296025"/>
            <a:ext cx="495300" cy="0"/>
          </a:xfrm>
          <a:prstGeom prst="line">
            <a:avLst/>
          </a:prstGeom>
          <a:ln cap="flat" w="19050">
            <a:solidFill>
              <a:srgbClr val="4CAF50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7" id="47"/>
          <p:cNvSpPr txBox="true"/>
          <p:nvPr/>
        </p:nvSpPr>
        <p:spPr>
          <a:xfrm rot="0">
            <a:off x="2095500" y="6019800"/>
            <a:ext cx="15240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Capa Transversal: Arquitectura Base &amp; Auth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2095500" y="6286500"/>
            <a:ext cx="15240000" cy="260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0000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Configuración del entorno, PostgreSQL, contratos JSON OpenAPI/Swagger y autenticación basada en tokens JWT.</a:t>
            </a:r>
          </a:p>
        </p:txBody>
      </p:sp>
      <p:sp>
        <p:nvSpPr>
          <p:cNvPr name="AutoShape 49" id="49"/>
          <p:cNvSpPr/>
          <p:nvPr/>
        </p:nvSpPr>
        <p:spPr>
          <a:xfrm>
            <a:off x="1333500" y="7362825"/>
            <a:ext cx="15811500" cy="0"/>
          </a:xfrm>
          <a:prstGeom prst="line">
            <a:avLst/>
          </a:prstGeom>
          <a:ln cap="flat" w="1905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0" id="50"/>
          <p:cNvGrpSpPr/>
          <p:nvPr/>
        </p:nvGrpSpPr>
        <p:grpSpPr>
          <a:xfrm rot="0">
            <a:off x="1028700" y="7600950"/>
            <a:ext cx="609600" cy="609600"/>
            <a:chOff x="0" y="0"/>
            <a:chExt cx="812800" cy="8128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1028700" y="7820025"/>
            <a:ext cx="609600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b="true" sz="1500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55 SP</a:t>
            </a:r>
          </a:p>
        </p:txBody>
      </p:sp>
      <p:sp>
        <p:nvSpPr>
          <p:cNvPr name="AutoShape 54" id="54"/>
          <p:cNvSpPr/>
          <p:nvPr/>
        </p:nvSpPr>
        <p:spPr>
          <a:xfrm>
            <a:off x="1638300" y="7905750"/>
            <a:ext cx="457200" cy="0"/>
          </a:xfrm>
          <a:prstGeom prst="line">
            <a:avLst/>
          </a:prstGeom>
          <a:ln cap="flat" w="19050">
            <a:solidFill>
              <a:srgbClr val="4CAF50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5" id="55"/>
          <p:cNvSpPr txBox="true"/>
          <p:nvPr/>
        </p:nvSpPr>
        <p:spPr>
          <a:xfrm rot="0">
            <a:off x="2095500" y="7591425"/>
            <a:ext cx="7620000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b="true" sz="20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Total del Proyecto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2095500" y="7858125"/>
            <a:ext cx="133350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>
                <a:solidFill>
                  <a:srgbClr val="FAFFFE">
                    <a:alpha val="80000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55 SP totales (47 SP core clínico)  ·  10 semanas de ingeniería activa (Semanas 5 a 14)</a:t>
            </a:r>
          </a:p>
        </p:txBody>
      </p:sp>
      <p:sp>
        <p:nvSpPr>
          <p:cNvPr name="AutoShape 57" id="57"/>
          <p:cNvSpPr/>
          <p:nvPr/>
        </p:nvSpPr>
        <p:spPr>
          <a:xfrm>
            <a:off x="1905000" y="9144000"/>
            <a:ext cx="14478000" cy="0"/>
          </a:xfrm>
          <a:prstGeom prst="line">
            <a:avLst/>
          </a:prstGeom>
          <a:ln cap="flat" w="9525">
            <a:solidFill>
              <a:srgbClr val="4CAF50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8" id="58"/>
          <p:cNvSpPr txBox="true"/>
          <p:nvPr/>
        </p:nvSpPr>
        <p:spPr>
          <a:xfrm rot="0">
            <a:off x="8667750" y="9315450"/>
            <a:ext cx="952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>
                <a:solidFill>
                  <a:srgbClr val="94D3C8">
                    <a:alpha val="49804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09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76250" y="9810750"/>
            <a:ext cx="571500" cy="28575"/>
            <a:chOff x="0" y="0"/>
            <a:chExt cx="7620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240250" y="9810750"/>
            <a:ext cx="571500" cy="28575"/>
            <a:chOff x="0" y="0"/>
            <a:chExt cx="7620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429000" y="657225"/>
            <a:ext cx="1143000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Plan de Trabajo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81500" y="1438275"/>
            <a:ext cx="95250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>
                <a:solidFill>
                  <a:srgbClr val="94D3C8"/>
                </a:solidFill>
                <a:latin typeface="Canva Sans"/>
                <a:ea typeface="Canva Sans"/>
                <a:cs typeface="Canva Sans"/>
                <a:sym typeface="Canva Sans"/>
              </a:rPr>
              <a:t>Cronograma de desarrollo en 4 fases — 14 semanas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762750" y="1876425"/>
            <a:ext cx="47625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905000" y="2857500"/>
            <a:ext cx="144780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1638300" y="2590800"/>
            <a:ext cx="533400" cy="533400"/>
            <a:chOff x="0" y="0"/>
            <a:chExt cx="711200" cy="711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638300" y="2524125"/>
            <a:ext cx="533400" cy="596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47"/>
              </a:lnSpc>
            </a:pPr>
            <a:r>
              <a:rPr lang="en-US" b="true" sz="3533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sp>
        <p:nvSpPr>
          <p:cNvPr name="AutoShape 23" id="23"/>
          <p:cNvSpPr/>
          <p:nvPr/>
        </p:nvSpPr>
        <p:spPr>
          <a:xfrm>
            <a:off x="1905000" y="3124200"/>
            <a:ext cx="0" cy="381000"/>
          </a:xfrm>
          <a:prstGeom prst="line">
            <a:avLst/>
          </a:prstGeom>
          <a:ln cap="flat" w="1905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95250" y="3600450"/>
            <a:ext cx="36195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b="true" sz="2199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Planificación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5250" y="3971925"/>
            <a:ext cx="3619500" cy="212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9"/>
              </a:lnSpc>
            </a:pPr>
            <a:r>
              <a:rPr lang="en-US" sz="1299">
                <a:solidFill>
                  <a:srgbClr val="050A30"/>
                </a:solidFill>
                <a:latin typeface="Open Sans"/>
                <a:ea typeface="Open Sans"/>
                <a:cs typeface="Open Sans"/>
                <a:sym typeface="Open Sans"/>
              </a:rPr>
              <a:t>Semanas 1–4</a:t>
            </a:r>
          </a:p>
        </p:txBody>
      </p:sp>
      <p:sp>
        <p:nvSpPr>
          <p:cNvPr name="AutoShape 26" id="26"/>
          <p:cNvSpPr/>
          <p:nvPr/>
        </p:nvSpPr>
        <p:spPr>
          <a:xfrm>
            <a:off x="1333500" y="4286250"/>
            <a:ext cx="1143000" cy="0"/>
          </a:xfrm>
          <a:prstGeom prst="line">
            <a:avLst/>
          </a:prstGeom>
          <a:ln cap="flat" w="9525">
            <a:solidFill>
              <a:srgbClr val="94D3C8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7" id="27"/>
          <p:cNvSpPr txBox="true"/>
          <p:nvPr/>
        </p:nvSpPr>
        <p:spPr>
          <a:xfrm rot="0">
            <a:off x="95250" y="4343400"/>
            <a:ext cx="3619500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5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Levantamiento de requisitos bajo estándar IEEE 830. Diseño de la arquitectura del sistema y configuración de repositorios y ambientes de desarrollo.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457950" y="2590800"/>
            <a:ext cx="533400" cy="533400"/>
            <a:chOff x="0" y="0"/>
            <a:chExt cx="711200" cy="7112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457950" y="2524125"/>
            <a:ext cx="533400" cy="596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47"/>
              </a:lnSpc>
            </a:pPr>
            <a:r>
              <a:rPr lang="en-US" b="true" sz="3533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02</a:t>
            </a:r>
          </a:p>
        </p:txBody>
      </p:sp>
      <p:sp>
        <p:nvSpPr>
          <p:cNvPr name="AutoShape 32" id="32"/>
          <p:cNvSpPr/>
          <p:nvPr/>
        </p:nvSpPr>
        <p:spPr>
          <a:xfrm>
            <a:off x="6724650" y="3124200"/>
            <a:ext cx="0" cy="381000"/>
          </a:xfrm>
          <a:prstGeom prst="line">
            <a:avLst/>
          </a:prstGeom>
          <a:ln cap="flat" w="1905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3" id="33"/>
          <p:cNvSpPr txBox="true"/>
          <p:nvPr/>
        </p:nvSpPr>
        <p:spPr>
          <a:xfrm rot="0">
            <a:off x="4914900" y="3600450"/>
            <a:ext cx="36195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b="true" sz="2199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Backend Core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4914900" y="3971925"/>
            <a:ext cx="3619500" cy="212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9"/>
              </a:lnSpc>
            </a:pPr>
            <a:r>
              <a:rPr lang="en-US" sz="1299">
                <a:solidFill>
                  <a:srgbClr val="050A30"/>
                </a:solidFill>
                <a:latin typeface="Open Sans"/>
                <a:ea typeface="Open Sans"/>
                <a:cs typeface="Open Sans"/>
                <a:sym typeface="Open Sans"/>
              </a:rPr>
              <a:t>Semanas 5–8  ·  Épica 001</a:t>
            </a:r>
          </a:p>
        </p:txBody>
      </p:sp>
      <p:sp>
        <p:nvSpPr>
          <p:cNvPr name="AutoShape 35" id="35"/>
          <p:cNvSpPr/>
          <p:nvPr/>
        </p:nvSpPr>
        <p:spPr>
          <a:xfrm>
            <a:off x="6153150" y="4286250"/>
            <a:ext cx="1143000" cy="0"/>
          </a:xfrm>
          <a:prstGeom prst="line">
            <a:avLst/>
          </a:prstGeom>
          <a:ln cap="flat" w="9525">
            <a:solidFill>
              <a:srgbClr val="94D3C8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6" id="36"/>
          <p:cNvSpPr txBox="true"/>
          <p:nvPr/>
        </p:nvSpPr>
        <p:spPr>
          <a:xfrm rot="0">
            <a:off x="4914900" y="4343400"/>
            <a:ext cx="3619500" cy="1123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5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Modelado de base de datos relacional, desarrollo de APIs base y construcción del módulo de prescripción de ejercicios terapéuticos.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1277600" y="2590800"/>
            <a:ext cx="533400" cy="533400"/>
            <a:chOff x="0" y="0"/>
            <a:chExt cx="711200" cy="711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1277600" y="2524125"/>
            <a:ext cx="533400" cy="596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47"/>
              </a:lnSpc>
            </a:pPr>
            <a:r>
              <a:rPr lang="en-US" b="true" sz="3533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03</a:t>
            </a:r>
          </a:p>
        </p:txBody>
      </p:sp>
      <p:sp>
        <p:nvSpPr>
          <p:cNvPr name="AutoShape 41" id="41"/>
          <p:cNvSpPr/>
          <p:nvPr/>
        </p:nvSpPr>
        <p:spPr>
          <a:xfrm>
            <a:off x="11544300" y="3124200"/>
            <a:ext cx="0" cy="381000"/>
          </a:xfrm>
          <a:prstGeom prst="line">
            <a:avLst/>
          </a:prstGeom>
          <a:ln cap="flat" w="1905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2" id="42"/>
          <p:cNvSpPr txBox="true"/>
          <p:nvPr/>
        </p:nvSpPr>
        <p:spPr>
          <a:xfrm rot="0">
            <a:off x="9734550" y="3600450"/>
            <a:ext cx="36195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b="true" sz="2199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Cliente Móvil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734550" y="3971925"/>
            <a:ext cx="3619500" cy="212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9"/>
              </a:lnSpc>
            </a:pPr>
            <a:r>
              <a:rPr lang="en-US" sz="1299">
                <a:solidFill>
                  <a:srgbClr val="050A30"/>
                </a:solidFill>
                <a:latin typeface="Open Sans"/>
                <a:ea typeface="Open Sans"/>
                <a:cs typeface="Open Sans"/>
                <a:sym typeface="Open Sans"/>
              </a:rPr>
              <a:t>Semanas 8–12  ·  Épica 002</a:t>
            </a:r>
          </a:p>
        </p:txBody>
      </p:sp>
      <p:sp>
        <p:nvSpPr>
          <p:cNvPr name="AutoShape 44" id="44"/>
          <p:cNvSpPr/>
          <p:nvPr/>
        </p:nvSpPr>
        <p:spPr>
          <a:xfrm>
            <a:off x="10972800" y="4286250"/>
            <a:ext cx="1143000" cy="0"/>
          </a:xfrm>
          <a:prstGeom prst="line">
            <a:avLst/>
          </a:prstGeom>
          <a:ln cap="flat" w="9525">
            <a:solidFill>
              <a:srgbClr val="94D3C8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5" id="45"/>
          <p:cNvSpPr txBox="true"/>
          <p:nvPr/>
        </p:nvSpPr>
        <p:spPr>
          <a:xfrm rot="0">
            <a:off x="9734550" y="4343400"/>
            <a:ext cx="3619500" cy="1123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5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Desarrollo del cliente móvil con React Native/Expo, integración multimedia para ejercicios y lógica del cronómetro interactivo.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6097250" y="2590800"/>
            <a:ext cx="533400" cy="533400"/>
            <a:chOff x="0" y="0"/>
            <a:chExt cx="711200" cy="7112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cubicBezTo>
                    <a:pt x="159208" y="0"/>
                    <a:pt x="0" y="159208"/>
                    <a:pt x="0" y="355600"/>
                  </a:cubicBezTo>
                  <a:cubicBezTo>
                    <a:pt x="0" y="551992"/>
                    <a:pt x="159208" y="711200"/>
                    <a:pt x="355600" y="711200"/>
                  </a:cubicBezTo>
                  <a:cubicBezTo>
                    <a:pt x="551992" y="711200"/>
                    <a:pt x="711200" y="551992"/>
                    <a:pt x="711200" y="355600"/>
                  </a:cubicBezTo>
                  <a:cubicBezTo>
                    <a:pt x="711200" y="159208"/>
                    <a:pt x="551992" y="0"/>
                    <a:pt x="3556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7112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6097250" y="2524125"/>
            <a:ext cx="533400" cy="596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47"/>
              </a:lnSpc>
            </a:pPr>
            <a:r>
              <a:rPr lang="en-US" b="true" sz="3533">
                <a:solidFill>
                  <a:srgbClr val="1A1A2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04</a:t>
            </a:r>
          </a:p>
        </p:txBody>
      </p:sp>
      <p:sp>
        <p:nvSpPr>
          <p:cNvPr name="AutoShape 50" id="50"/>
          <p:cNvSpPr/>
          <p:nvPr/>
        </p:nvSpPr>
        <p:spPr>
          <a:xfrm>
            <a:off x="16363950" y="3124200"/>
            <a:ext cx="0" cy="381000"/>
          </a:xfrm>
          <a:prstGeom prst="line">
            <a:avLst/>
          </a:prstGeom>
          <a:ln cap="flat" w="19050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1" id="51"/>
          <p:cNvSpPr txBox="true"/>
          <p:nvPr/>
        </p:nvSpPr>
        <p:spPr>
          <a:xfrm rot="0">
            <a:off x="14554200" y="3600450"/>
            <a:ext cx="361950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b="true" sz="2199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Integración y Cierre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4554200" y="3971925"/>
            <a:ext cx="3619500" cy="212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9"/>
              </a:lnSpc>
            </a:pPr>
            <a:r>
              <a:rPr lang="en-US" sz="1299">
                <a:solidFill>
                  <a:srgbClr val="050A30"/>
                </a:solidFill>
                <a:latin typeface="Open Sans"/>
                <a:ea typeface="Open Sans"/>
                <a:cs typeface="Open Sans"/>
                <a:sym typeface="Open Sans"/>
              </a:rPr>
              <a:t>Semanas 12–14  ·  Épica 003</a:t>
            </a:r>
          </a:p>
        </p:txBody>
      </p:sp>
      <p:sp>
        <p:nvSpPr>
          <p:cNvPr name="AutoShape 53" id="53"/>
          <p:cNvSpPr/>
          <p:nvPr/>
        </p:nvSpPr>
        <p:spPr>
          <a:xfrm>
            <a:off x="15792450" y="4286250"/>
            <a:ext cx="1143000" cy="0"/>
          </a:xfrm>
          <a:prstGeom prst="line">
            <a:avLst/>
          </a:prstGeom>
          <a:ln cap="flat" w="9525">
            <a:solidFill>
              <a:srgbClr val="94D3C8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4" id="54"/>
          <p:cNvSpPr txBox="true"/>
          <p:nvPr/>
        </p:nvSpPr>
        <p:spPr>
          <a:xfrm rot="0">
            <a:off x="14554200" y="4343400"/>
            <a:ext cx="3619500" cy="1123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500">
                <a:solidFill>
                  <a:srgbClr val="FAFFFE"/>
                </a:solidFill>
                <a:latin typeface="Canva Sans"/>
                <a:ea typeface="Canva Sans"/>
                <a:cs typeface="Canva Sans"/>
                <a:sym typeface="Canva Sans"/>
              </a:rPr>
              <a:t>Integración del panel en vivo, validación de alertas clínicas, pruebas QA end-to-end y redacción de la memoria final del proyecto.</a:t>
            </a:r>
          </a:p>
        </p:txBody>
      </p:sp>
      <p:sp>
        <p:nvSpPr>
          <p:cNvPr name="AutoShape 55" id="55"/>
          <p:cNvSpPr/>
          <p:nvPr/>
        </p:nvSpPr>
        <p:spPr>
          <a:xfrm>
            <a:off x="1905000" y="9144000"/>
            <a:ext cx="14478000" cy="0"/>
          </a:xfrm>
          <a:prstGeom prst="line">
            <a:avLst/>
          </a:prstGeom>
          <a:ln cap="flat" w="9525">
            <a:solidFill>
              <a:srgbClr val="4CAF50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76250" y="9810750"/>
            <a:ext cx="571500" cy="28575"/>
            <a:chOff x="0" y="0"/>
            <a:chExt cx="7620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240250" y="9810750"/>
            <a:ext cx="571500" cy="28575"/>
            <a:chOff x="0" y="0"/>
            <a:chExt cx="7620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429000" y="657225"/>
            <a:ext cx="1143000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Gestión Estratégica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81500" y="1438275"/>
            <a:ext cx="95250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>
                <a:solidFill>
                  <a:srgbClr val="94D3C8"/>
                </a:solidFill>
                <a:latin typeface="Canva Sans"/>
                <a:ea typeface="Canva Sans"/>
                <a:cs typeface="Canva Sans"/>
                <a:sym typeface="Canva Sans"/>
              </a:rPr>
              <a:t>Impulsores de éxito y mitigación de riesgos del proyecto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762750" y="1876425"/>
            <a:ext cx="47625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9144000" y="2257425"/>
            <a:ext cx="0" cy="6886575"/>
          </a:xfrm>
          <a:prstGeom prst="line">
            <a:avLst/>
          </a:prstGeom>
          <a:ln cap="flat" w="19050">
            <a:solidFill>
              <a:srgbClr val="4CAF50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9" id="19"/>
          <p:cNvSpPr txBox="true"/>
          <p:nvPr/>
        </p:nvSpPr>
        <p:spPr>
          <a:xfrm rot="0">
            <a:off x="762000" y="2257425"/>
            <a:ext cx="809625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b="true" sz="2199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Impulsores Clave</a:t>
            </a:r>
          </a:p>
        </p:txBody>
      </p:sp>
      <p:sp>
        <p:nvSpPr>
          <p:cNvPr name="AutoShape 20" id="20"/>
          <p:cNvSpPr/>
          <p:nvPr/>
        </p:nvSpPr>
        <p:spPr>
          <a:xfrm>
            <a:off x="762000" y="2705100"/>
            <a:ext cx="1143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762000" y="2971800"/>
            <a:ext cx="114300" cy="114300"/>
            <a:chOff x="0" y="0"/>
            <a:chExt cx="152400" cy="1524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990600" y="2924175"/>
            <a:ext cx="786765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b="true" sz="1599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Arquitectura desacoplada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90600" y="3181350"/>
            <a:ext cx="786765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Backend API y clientes independientes permiten escalar y mantener cada componente por separado, reduciendo dependencias y facilitando despliegues autónomos.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62000" y="4000500"/>
            <a:ext cx="114300" cy="114300"/>
            <a:chOff x="0" y="0"/>
            <a:chExt cx="152400" cy="152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990600" y="3952875"/>
            <a:ext cx="786765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b="true" sz="1599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Catálogo multimedia preoptimizado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90600" y="4210050"/>
            <a:ext cx="786765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Contenido multimedia preparado y optimizado desde el inicio para eliminar latencia durante la demostración de ejercicios terapéuticos al paciente.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762000" y="5029200"/>
            <a:ext cx="114300" cy="114300"/>
            <a:chOff x="0" y="0"/>
            <a:chExt cx="152400" cy="152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52400" cy="152400"/>
            </a:xfrm>
            <a:custGeom>
              <a:avLst/>
              <a:gdLst/>
              <a:ahLst/>
              <a:cxnLst/>
              <a:rect r="r" b="b" t="t" l="l"/>
              <a:pathLst>
                <a:path h="152400" w="152400">
                  <a:moveTo>
                    <a:pt x="76200" y="0"/>
                  </a:moveTo>
                  <a:cubicBezTo>
                    <a:pt x="34116" y="0"/>
                    <a:pt x="0" y="34116"/>
                    <a:pt x="0" y="76200"/>
                  </a:cubicBezTo>
                  <a:cubicBezTo>
                    <a:pt x="0" y="118284"/>
                    <a:pt x="34116" y="152400"/>
                    <a:pt x="76200" y="152400"/>
                  </a:cubicBezTo>
                  <a:cubicBezTo>
                    <a:pt x="118284" y="152400"/>
                    <a:pt x="152400" y="118284"/>
                    <a:pt x="152400" y="76200"/>
                  </a:cubicBezTo>
                  <a:cubicBezTo>
                    <a:pt x="152400" y="34116"/>
                    <a:pt x="118284" y="0"/>
                    <a:pt x="762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52400" cy="190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990600" y="4981575"/>
            <a:ext cx="7867650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b="true" sz="1599">
                <a:solidFill>
                  <a:srgbClr val="FAFFF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Validación clínica continua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90600" y="5238750"/>
            <a:ext cx="786765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Un profesional de la salud actúa como stakeholder validador permanente, asegurando que cada iteración cumpla con los estándares clínicos requeridos.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429750" y="2257425"/>
            <a:ext cx="809625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b="true" sz="2199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Control de Riesgos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29750" y="2705100"/>
            <a:ext cx="1143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8" id="38"/>
          <p:cNvGrpSpPr/>
          <p:nvPr/>
        </p:nvGrpSpPr>
        <p:grpSpPr>
          <a:xfrm rot="0">
            <a:off x="9429750" y="2952750"/>
            <a:ext cx="133350" cy="133350"/>
            <a:chOff x="0" y="0"/>
            <a:chExt cx="177800" cy="177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lnTo>
                    <a:pt x="177800" y="177800"/>
                  </a:lnTo>
                  <a:lnTo>
                    <a:pt x="0" y="177800"/>
                  </a:lnTo>
                  <a:lnTo>
                    <a:pt x="88900" y="0"/>
                  </a:lnTo>
                  <a:close/>
                </a:path>
              </a:pathLst>
            </a:custGeom>
            <a:solidFill>
              <a:srgbClr val="FF6B6B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9677400" y="2924175"/>
            <a:ext cx="78486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b="true" sz="1500">
                <a:solidFill>
                  <a:srgbClr val="FF6B6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Riesgo: Desalineación en contratos cliente-servidor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677400" y="3152775"/>
            <a:ext cx="784860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299">
                <a:solidFill>
                  <a:srgbClr val="FAFFFE">
                    <a:alpha val="80000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La comunicación entre frontend y backend puede generar inconsistencias si no se definen contratos claros desde el inicio.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9429750" y="3800475"/>
            <a:ext cx="133350" cy="133350"/>
            <a:chOff x="0" y="0"/>
            <a:chExt cx="177800" cy="177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9677400" y="3771900"/>
            <a:ext cx="78486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b="true" sz="15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Mitigación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677400" y="4000500"/>
            <a:ext cx="784860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299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Implementación de OpenAPI/Swagger con esquemas JSON estrictos que garantizan la validación automática de cada endpoint y su documentación actualizada.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9429750" y="4857750"/>
            <a:ext cx="133350" cy="133350"/>
            <a:chOff x="0" y="0"/>
            <a:chExt cx="177800" cy="177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lnTo>
                    <a:pt x="177800" y="177800"/>
                  </a:lnTo>
                  <a:lnTo>
                    <a:pt x="0" y="177800"/>
                  </a:lnTo>
                  <a:lnTo>
                    <a:pt x="88900" y="0"/>
                  </a:lnTo>
                  <a:close/>
                </a:path>
              </a:pathLst>
            </a:custGeom>
            <a:solidFill>
              <a:srgbClr val="FF6B6B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9677400" y="4829175"/>
            <a:ext cx="78486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b="true" sz="1500">
                <a:solidFill>
                  <a:srgbClr val="FF6B6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Riesgo: Desborde de alcance temporal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677400" y="5057775"/>
            <a:ext cx="784860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299">
                <a:solidFill>
                  <a:srgbClr val="FAFFFE">
                    <a:alpha val="80000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El proyecto puede extenderse más allá de las semanas planificadas si no se controla el alcance de cada iteración.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9429750" y="5705475"/>
            <a:ext cx="133350" cy="133350"/>
            <a:chOff x="0" y="0"/>
            <a:chExt cx="177800" cy="1778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77800" cy="177800"/>
            </a:xfrm>
            <a:custGeom>
              <a:avLst/>
              <a:gdLst/>
              <a:ahLst/>
              <a:cxnLst/>
              <a:rect r="r" b="b" t="t" l="l"/>
              <a:pathLst>
                <a:path h="177800" w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177800" cy="215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9677400" y="5676900"/>
            <a:ext cx="7848600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b="true" sz="15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Mitigación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677400" y="5905500"/>
            <a:ext cx="7848600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49"/>
              </a:lnSpc>
            </a:pPr>
            <a:r>
              <a:rPr lang="en-US" sz="1299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PMV acotado estrictamente a 10 semanas de ingeniería, con entregables definidos por épica y revisiones de alcance en cada sprint.</a:t>
            </a:r>
          </a:p>
        </p:txBody>
      </p:sp>
      <p:sp>
        <p:nvSpPr>
          <p:cNvPr name="AutoShape 58" id="58"/>
          <p:cNvSpPr/>
          <p:nvPr/>
        </p:nvSpPr>
        <p:spPr>
          <a:xfrm>
            <a:off x="1905000" y="9144000"/>
            <a:ext cx="14478000" cy="0"/>
          </a:xfrm>
          <a:prstGeom prst="line">
            <a:avLst/>
          </a:prstGeom>
          <a:ln cap="flat" w="9525">
            <a:solidFill>
              <a:srgbClr val="4CAF50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9" id="59"/>
          <p:cNvSpPr txBox="true"/>
          <p:nvPr/>
        </p:nvSpPr>
        <p:spPr>
          <a:xfrm rot="0">
            <a:off x="8667750" y="9315450"/>
            <a:ext cx="952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>
                <a:solidFill>
                  <a:srgbClr val="94D3C8">
                    <a:alpha val="49804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76250" y="9810750"/>
            <a:ext cx="571500" cy="28575"/>
            <a:chOff x="0" y="0"/>
            <a:chExt cx="7620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240250" y="9810750"/>
            <a:ext cx="571500" cy="28575"/>
            <a:chOff x="0" y="0"/>
            <a:chExt cx="7620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429000" y="609600"/>
            <a:ext cx="1143000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Integración con el Perfil de Egreso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81500" y="1390650"/>
            <a:ext cx="95250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>
                <a:solidFill>
                  <a:srgbClr val="94D3C8"/>
                </a:solidFill>
                <a:latin typeface="Canva Sans"/>
                <a:ea typeface="Canva Sans"/>
                <a:cs typeface="Canva Sans"/>
                <a:sym typeface="Canva Sans"/>
              </a:rPr>
              <a:t>Articulación de competencias de Ingeniería en Informática (Duoc UC)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762750" y="1790700"/>
            <a:ext cx="47625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0">
            <a:off x="952500" y="2076450"/>
            <a:ext cx="381000" cy="381000"/>
            <a:chOff x="0" y="0"/>
            <a:chExt cx="508000" cy="508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52500" y="201930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sz="2515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01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66850" y="2143125"/>
            <a:ext cx="72961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Construcción de Modelos de Datos</a:t>
            </a:r>
          </a:p>
        </p:txBody>
      </p:sp>
      <p:sp>
        <p:nvSpPr>
          <p:cNvPr name="AutoShape 23" id="23"/>
          <p:cNvSpPr/>
          <p:nvPr/>
        </p:nvSpPr>
        <p:spPr>
          <a:xfrm>
            <a:off x="952500" y="2476500"/>
            <a:ext cx="1143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028700" y="2667000"/>
            <a:ext cx="76200" cy="76200"/>
            <a:chOff x="0" y="0"/>
            <a:chExt cx="101600" cy="10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181100" y="2562225"/>
            <a:ext cx="758190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Diseño relacional normalizado y escalable con entidades Perfil, Ejercicio, Pauta y RegistroFeedback.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28700" y="3267075"/>
            <a:ext cx="76200" cy="76200"/>
            <a:chOff x="0" y="0"/>
            <a:chExt cx="101600" cy="101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181100" y="3162300"/>
            <a:ext cx="758190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Implementación y migraciones en PostgreSQL mediante Django ORM con validación de unicidad de RUT.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525000" y="2076450"/>
            <a:ext cx="381000" cy="381000"/>
            <a:chOff x="0" y="0"/>
            <a:chExt cx="508000" cy="508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9525000" y="201930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sz="2515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02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039350" y="2143125"/>
            <a:ext cx="72961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Desarrollo de Solución de Software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525000" y="2476500"/>
            <a:ext cx="1143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8" id="38"/>
          <p:cNvGrpSpPr/>
          <p:nvPr/>
        </p:nvGrpSpPr>
        <p:grpSpPr>
          <a:xfrm rot="0">
            <a:off x="9601200" y="2667000"/>
            <a:ext cx="76200" cy="76200"/>
            <a:chOff x="0" y="0"/>
            <a:chExt cx="101600" cy="101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9753600" y="2562225"/>
            <a:ext cx="758190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Arquitectura desacoplada: Backend central en Python / Django REST Framework con autenticación JWT.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601200" y="3267075"/>
            <a:ext cx="76200" cy="76200"/>
            <a:chOff x="0" y="0"/>
            <a:chExt cx="101600" cy="101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9753600" y="3162300"/>
            <a:ext cx="758190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Integración multiplataforma consumiendo endpoints REST mediante clientes Web (React) y Móvil (React Native Expo).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952500" y="5314950"/>
            <a:ext cx="381000" cy="381000"/>
            <a:chOff x="0" y="0"/>
            <a:chExt cx="508000" cy="5080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52500" y="525780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sz="2515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03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466850" y="5381625"/>
            <a:ext cx="72961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Gestión de Proyectos Informáticos</a:t>
            </a:r>
          </a:p>
        </p:txBody>
      </p:sp>
      <p:sp>
        <p:nvSpPr>
          <p:cNvPr name="AutoShape 51" id="51"/>
          <p:cNvSpPr/>
          <p:nvPr/>
        </p:nvSpPr>
        <p:spPr>
          <a:xfrm>
            <a:off x="952500" y="5715000"/>
            <a:ext cx="1143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2" id="52"/>
          <p:cNvGrpSpPr/>
          <p:nvPr/>
        </p:nvGrpSpPr>
        <p:grpSpPr>
          <a:xfrm rot="0">
            <a:off x="1028700" y="5905500"/>
            <a:ext cx="76200" cy="76200"/>
            <a:chOff x="0" y="0"/>
            <a:chExt cx="101600" cy="1016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1181100" y="5800725"/>
            <a:ext cx="758190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Planificación y seguimiento ágil bajo Scrum, estimación relativa en Planning Poker (47 SP).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028700" y="6505575"/>
            <a:ext cx="76200" cy="76200"/>
            <a:chOff x="0" y="0"/>
            <a:chExt cx="101600" cy="1016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181100" y="6400800"/>
            <a:ext cx="758190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Mitigación de riesgos de interfaz con contratos OpenAPI/Swagger y esquemas JSON estrictos.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9525000" y="5314950"/>
            <a:ext cx="381000" cy="381000"/>
            <a:chOff x="0" y="0"/>
            <a:chExt cx="508000" cy="5080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9525000" y="525780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sz="2515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04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0039350" y="5381625"/>
            <a:ext cx="72961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Pruebas y Certificación de Calidad</a:t>
            </a:r>
          </a:p>
        </p:txBody>
      </p:sp>
      <p:sp>
        <p:nvSpPr>
          <p:cNvPr name="AutoShape 65" id="65"/>
          <p:cNvSpPr/>
          <p:nvPr/>
        </p:nvSpPr>
        <p:spPr>
          <a:xfrm>
            <a:off x="9525000" y="5715000"/>
            <a:ext cx="1143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6" id="66"/>
          <p:cNvGrpSpPr/>
          <p:nvPr/>
        </p:nvGrpSpPr>
        <p:grpSpPr>
          <a:xfrm rot="0">
            <a:off x="9601200" y="5905500"/>
            <a:ext cx="76200" cy="76200"/>
            <a:chOff x="0" y="0"/>
            <a:chExt cx="101600" cy="1016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9" id="69"/>
          <p:cNvSpPr txBox="true"/>
          <p:nvPr/>
        </p:nvSpPr>
        <p:spPr>
          <a:xfrm rot="0">
            <a:off x="9753600" y="5800725"/>
            <a:ext cx="758190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Pruebas de integración E2E para el ciclo clínico completo: prescripción, ejecución y monitoreo.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9601200" y="6505575"/>
            <a:ext cx="76200" cy="76200"/>
            <a:chOff x="0" y="0"/>
            <a:chExt cx="101600" cy="1016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73" id="73"/>
          <p:cNvSpPr txBox="true"/>
          <p:nvPr/>
        </p:nvSpPr>
        <p:spPr>
          <a:xfrm rot="0">
            <a:off x="9753600" y="6400800"/>
            <a:ext cx="758190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Validación del disparador de alertas por dolor severo (≥7/10) con notificación inmediata al kinesiólogo.</a:t>
            </a:r>
          </a:p>
        </p:txBody>
      </p:sp>
      <p:sp>
        <p:nvSpPr>
          <p:cNvPr name="AutoShape 74" id="74"/>
          <p:cNvSpPr/>
          <p:nvPr/>
        </p:nvSpPr>
        <p:spPr>
          <a:xfrm>
            <a:off x="9144000" y="2076450"/>
            <a:ext cx="0" cy="6096000"/>
          </a:xfrm>
          <a:prstGeom prst="line">
            <a:avLst/>
          </a:prstGeom>
          <a:ln cap="flat" w="9525">
            <a:solidFill>
              <a:srgbClr val="4CAF50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5" id="75"/>
          <p:cNvSpPr/>
          <p:nvPr/>
        </p:nvSpPr>
        <p:spPr>
          <a:xfrm>
            <a:off x="952500" y="5124450"/>
            <a:ext cx="16383000" cy="0"/>
          </a:xfrm>
          <a:prstGeom prst="line">
            <a:avLst/>
          </a:prstGeom>
          <a:ln cap="flat" w="9525">
            <a:solidFill>
              <a:srgbClr val="4CAF50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6" id="76"/>
          <p:cNvSpPr/>
          <p:nvPr/>
        </p:nvSpPr>
        <p:spPr>
          <a:xfrm>
            <a:off x="1905000" y="9144000"/>
            <a:ext cx="14478000" cy="0"/>
          </a:xfrm>
          <a:prstGeom prst="line">
            <a:avLst/>
          </a:prstGeom>
          <a:ln cap="flat" w="9525">
            <a:solidFill>
              <a:srgbClr val="4CAF50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7" id="77"/>
          <p:cNvSpPr txBox="true"/>
          <p:nvPr/>
        </p:nvSpPr>
        <p:spPr>
          <a:xfrm rot="0">
            <a:off x="8667750" y="9315450"/>
            <a:ext cx="952500" cy="198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>
                <a:solidFill>
                  <a:srgbClr val="94D3C8">
                    <a:alpha val="49804"/>
                  </a:srgbClr>
                </a:solidFill>
                <a:latin typeface="Open Sans"/>
                <a:ea typeface="Open Sans"/>
                <a:cs typeface="Open Sans"/>
                <a:sym typeface="Open Sans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76250" y="9810750"/>
            <a:ext cx="571500" cy="28575"/>
            <a:chOff x="0" y="0"/>
            <a:chExt cx="7620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240250" y="9810750"/>
            <a:ext cx="571500" cy="28575"/>
            <a:chOff x="0" y="0"/>
            <a:chExt cx="7620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429000" y="609600"/>
            <a:ext cx="1143000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Relación con Intereses Profesionales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81500" y="1390650"/>
            <a:ext cx="95250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>
                <a:solidFill>
                  <a:srgbClr val="94D3C8"/>
                </a:solidFill>
                <a:latin typeface="Canva Sans"/>
                <a:ea typeface="Canva Sans"/>
                <a:cs typeface="Canva Sans"/>
                <a:sym typeface="Canva Sans"/>
              </a:rPr>
              <a:t>Motivación disciplinar y proyección del equipo de desarrollo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762750" y="1828800"/>
            <a:ext cx="47625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952500" y="5334000"/>
            <a:ext cx="16383000" cy="0"/>
          </a:xfrm>
          <a:prstGeom prst="line">
            <a:avLst/>
          </a:prstGeom>
          <a:ln cap="flat" w="9525">
            <a:solidFill>
              <a:srgbClr val="4CAF50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9144000" y="2095500"/>
            <a:ext cx="0" cy="6096000"/>
          </a:xfrm>
          <a:prstGeom prst="line">
            <a:avLst/>
          </a:prstGeom>
          <a:ln cap="flat" w="9525">
            <a:solidFill>
              <a:srgbClr val="4CAF50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952500" y="2286000"/>
            <a:ext cx="381000" cy="381000"/>
            <a:chOff x="0" y="0"/>
            <a:chExt cx="508000" cy="508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952500" y="2257425"/>
            <a:ext cx="381000" cy="396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0"/>
              </a:lnSpc>
            </a:pPr>
            <a:r>
              <a:rPr lang="en-US" sz="2407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66850" y="2352675"/>
            <a:ext cx="7334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Arquitectura de Software y Persistencia</a:t>
            </a:r>
          </a:p>
        </p:txBody>
      </p:sp>
      <p:sp>
        <p:nvSpPr>
          <p:cNvPr name="AutoShape 25" id="25"/>
          <p:cNvSpPr/>
          <p:nvPr/>
        </p:nvSpPr>
        <p:spPr>
          <a:xfrm>
            <a:off x="952500" y="2705100"/>
            <a:ext cx="9525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1047750" y="2771775"/>
            <a:ext cx="7715250" cy="785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Diseño de backends desacoplados, APIs REST escalables bajo estándares de la industria y modelado de bases de datos relacionales robustas para garantizar la integridad de información clínica.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429750" y="2286000"/>
            <a:ext cx="381000" cy="381000"/>
            <a:chOff x="0" y="0"/>
            <a:chExt cx="508000" cy="508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9429750" y="2257425"/>
            <a:ext cx="381000" cy="396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0"/>
              </a:lnSpc>
            </a:pPr>
            <a:r>
              <a:rPr lang="en-US" sz="2407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📱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944100" y="2352675"/>
            <a:ext cx="7334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Desarrollo Multiplataforma y UX</a:t>
            </a:r>
          </a:p>
        </p:txBody>
      </p:sp>
      <p:sp>
        <p:nvSpPr>
          <p:cNvPr name="AutoShape 32" id="32"/>
          <p:cNvSpPr/>
          <p:nvPr/>
        </p:nvSpPr>
        <p:spPr>
          <a:xfrm>
            <a:off x="9429750" y="2705100"/>
            <a:ext cx="9525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3" id="33"/>
          <p:cNvSpPr txBox="true"/>
          <p:nvPr/>
        </p:nvSpPr>
        <p:spPr>
          <a:xfrm rot="0">
            <a:off x="9525000" y="2771775"/>
            <a:ext cx="7715250" cy="785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Construcción de interfaces accesibles y responsivas en web y móvil, priorizando la interacción asistida en tiempo real y visualización de analítica para la toma de decisiones profesionales.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52500" y="5524500"/>
            <a:ext cx="381000" cy="381000"/>
            <a:chOff x="0" y="0"/>
            <a:chExt cx="508000" cy="508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952500" y="546735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sz="2515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✓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66850" y="5591175"/>
            <a:ext cx="7334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Calidad y Gestión Ágil</a:t>
            </a:r>
          </a:p>
        </p:txBody>
      </p:sp>
      <p:sp>
        <p:nvSpPr>
          <p:cNvPr name="AutoShape 39" id="39"/>
          <p:cNvSpPr/>
          <p:nvPr/>
        </p:nvSpPr>
        <p:spPr>
          <a:xfrm>
            <a:off x="952500" y="5943600"/>
            <a:ext cx="9525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0" id="40"/>
          <p:cNvSpPr txBox="true"/>
          <p:nvPr/>
        </p:nvSpPr>
        <p:spPr>
          <a:xfrm rot="0">
            <a:off x="1047750" y="6010275"/>
            <a:ext cx="7715250" cy="518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Aplicación de Scrum y Planning Poker, control de contratos entre sistemas con OpenAPI/Swagger y diseño de pruebas E2E que aseguren la estabilidad del producto.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429750" y="5524500"/>
            <a:ext cx="381000" cy="381000"/>
            <a:chOff x="0" y="0"/>
            <a:chExt cx="508000" cy="5080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08000" cy="508000"/>
            </a:xfrm>
            <a:custGeom>
              <a:avLst/>
              <a:gdLst/>
              <a:ahLst/>
              <a:cxnLst/>
              <a:rect r="r" b="b" t="t" l="l"/>
              <a:pathLst>
                <a:path h="508000" w="508000">
                  <a:moveTo>
                    <a:pt x="254000" y="0"/>
                  </a:moveTo>
                  <a:cubicBezTo>
                    <a:pt x="113720" y="0"/>
                    <a:pt x="0" y="113720"/>
                    <a:pt x="0" y="254000"/>
                  </a:cubicBezTo>
                  <a:cubicBezTo>
                    <a:pt x="0" y="394280"/>
                    <a:pt x="113720" y="508000"/>
                    <a:pt x="254000" y="508000"/>
                  </a:cubicBezTo>
                  <a:cubicBezTo>
                    <a:pt x="394280" y="508000"/>
                    <a:pt x="508000" y="394280"/>
                    <a:pt x="508000" y="254000"/>
                  </a:cubicBezTo>
                  <a:cubicBezTo>
                    <a:pt x="508000" y="113720"/>
                    <a:pt x="394280" y="0"/>
                    <a:pt x="2540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508000" cy="54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9429750" y="5467350"/>
            <a:ext cx="381000" cy="431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2"/>
              </a:lnSpc>
            </a:pPr>
            <a:r>
              <a:rPr lang="en-US" sz="2515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♥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944100" y="5591175"/>
            <a:ext cx="733425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Impacto en Salud Digital (HealthTech)</a:t>
            </a:r>
          </a:p>
        </p:txBody>
      </p:sp>
      <p:sp>
        <p:nvSpPr>
          <p:cNvPr name="AutoShape 46" id="46"/>
          <p:cNvSpPr/>
          <p:nvPr/>
        </p:nvSpPr>
        <p:spPr>
          <a:xfrm>
            <a:off x="9429750" y="5943600"/>
            <a:ext cx="9525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7" id="47"/>
          <p:cNvSpPr txBox="true"/>
          <p:nvPr/>
        </p:nvSpPr>
        <p:spPr>
          <a:xfrm rot="0">
            <a:off x="9525000" y="6010275"/>
            <a:ext cx="7715250" cy="785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7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Transformación digital en salud, reemplazando procesos análogos y pautas en papel por software que optimice la trazabilidad clínica y potencie la adherencia en rehabilitación física.</a:t>
            </a:r>
          </a:p>
        </p:txBody>
      </p:sp>
      <p:sp>
        <p:nvSpPr>
          <p:cNvPr name="AutoShape 48" id="48"/>
          <p:cNvSpPr/>
          <p:nvPr/>
        </p:nvSpPr>
        <p:spPr>
          <a:xfrm>
            <a:off x="1905000" y="9144000"/>
            <a:ext cx="14478000" cy="0"/>
          </a:xfrm>
          <a:prstGeom prst="line">
            <a:avLst/>
          </a:prstGeom>
          <a:ln cap="flat" w="9525">
            <a:solidFill>
              <a:srgbClr val="4CAF50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67920" y="650651"/>
            <a:ext cx="17026029" cy="8985697"/>
            <a:chOff x="0" y="0"/>
            <a:chExt cx="4990380" cy="26337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90380" cy="2633735"/>
            </a:xfrm>
            <a:custGeom>
              <a:avLst/>
              <a:gdLst/>
              <a:ahLst/>
              <a:cxnLst/>
              <a:rect r="r" b="b" t="t" l="l"/>
              <a:pathLst>
                <a:path h="2633735" w="4990380">
                  <a:moveTo>
                    <a:pt x="0" y="0"/>
                  </a:moveTo>
                  <a:lnTo>
                    <a:pt x="4990380" y="0"/>
                  </a:lnTo>
                  <a:lnTo>
                    <a:pt x="4990380" y="2633735"/>
                  </a:lnTo>
                  <a:lnTo>
                    <a:pt x="0" y="2633735"/>
                  </a:lnTo>
                  <a:close/>
                </a:path>
              </a:pathLst>
            </a:custGeom>
            <a:ln w="66675" cap="sq">
              <a:solidFill>
                <a:srgbClr val="94D3C8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990380" cy="2671835"/>
            </a:xfrm>
            <a:prstGeom prst="rect">
              <a:avLst/>
            </a:prstGeom>
          </p:spPr>
          <p:txBody>
            <a:bodyPr anchor="ctr" rtlCol="false" tIns="48876" lIns="48876" bIns="48876" rIns="48876"/>
            <a:lstStyle/>
            <a:p>
              <a:pPr algn="ctr">
                <a:lnSpc>
                  <a:spcPts val="1588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195742" y="3453038"/>
            <a:ext cx="8991109" cy="4296100"/>
          </a:xfrm>
          <a:custGeom>
            <a:avLst/>
            <a:gdLst/>
            <a:ahLst/>
            <a:cxnLst/>
            <a:rect r="r" b="b" t="t" l="l"/>
            <a:pathLst>
              <a:path h="4296100" w="8991109">
                <a:moveTo>
                  <a:pt x="0" y="0"/>
                </a:moveTo>
                <a:lnTo>
                  <a:pt x="8991109" y="0"/>
                </a:lnTo>
                <a:lnTo>
                  <a:pt x="8991109" y="4296099"/>
                </a:lnTo>
                <a:lnTo>
                  <a:pt x="0" y="42960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4511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983883" y="3179196"/>
            <a:ext cx="6388262" cy="4843782"/>
          </a:xfrm>
          <a:custGeom>
            <a:avLst/>
            <a:gdLst/>
            <a:ahLst/>
            <a:cxnLst/>
            <a:rect r="r" b="b" t="t" l="l"/>
            <a:pathLst>
              <a:path h="4843782" w="6388262">
                <a:moveTo>
                  <a:pt x="0" y="0"/>
                </a:moveTo>
                <a:lnTo>
                  <a:pt x="6388263" y="0"/>
                </a:lnTo>
                <a:lnTo>
                  <a:pt x="6388263" y="4843783"/>
                </a:lnTo>
                <a:lnTo>
                  <a:pt x="0" y="48437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6026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7351851" y="1130484"/>
            <a:ext cx="3584299" cy="906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Vista General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67920" y="650651"/>
            <a:ext cx="17026029" cy="8985697"/>
            <a:chOff x="0" y="0"/>
            <a:chExt cx="4990380" cy="263373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90380" cy="2633735"/>
            </a:xfrm>
            <a:custGeom>
              <a:avLst/>
              <a:gdLst/>
              <a:ahLst/>
              <a:cxnLst/>
              <a:rect r="r" b="b" t="t" l="l"/>
              <a:pathLst>
                <a:path h="2633735" w="4990380">
                  <a:moveTo>
                    <a:pt x="0" y="0"/>
                  </a:moveTo>
                  <a:lnTo>
                    <a:pt x="4990380" y="0"/>
                  </a:lnTo>
                  <a:lnTo>
                    <a:pt x="4990380" y="2633735"/>
                  </a:lnTo>
                  <a:lnTo>
                    <a:pt x="0" y="2633735"/>
                  </a:lnTo>
                  <a:close/>
                </a:path>
              </a:pathLst>
            </a:custGeom>
            <a:ln w="66675" cap="sq">
              <a:solidFill>
                <a:srgbClr val="94D3C8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990380" cy="2671835"/>
            </a:xfrm>
            <a:prstGeom prst="rect">
              <a:avLst/>
            </a:prstGeom>
          </p:spPr>
          <p:txBody>
            <a:bodyPr anchor="ctr" rtlCol="false" tIns="48876" lIns="48876" bIns="48876" rIns="48876"/>
            <a:lstStyle/>
            <a:p>
              <a:pPr algn="ctr">
                <a:lnSpc>
                  <a:spcPts val="1588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601885" y="2430147"/>
            <a:ext cx="13084230" cy="6283955"/>
          </a:xfrm>
          <a:custGeom>
            <a:avLst/>
            <a:gdLst/>
            <a:ahLst/>
            <a:cxnLst/>
            <a:rect r="r" b="b" t="t" l="l"/>
            <a:pathLst>
              <a:path h="6283955" w="13084230">
                <a:moveTo>
                  <a:pt x="0" y="0"/>
                </a:moveTo>
                <a:lnTo>
                  <a:pt x="13084230" y="0"/>
                </a:lnTo>
                <a:lnTo>
                  <a:pt x="13084230" y="6283956"/>
                </a:lnTo>
                <a:lnTo>
                  <a:pt x="0" y="628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0224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7588786" y="1152433"/>
            <a:ext cx="3584299" cy="906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Vista General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59" r="0" b="-925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76250" y="476250"/>
            <a:ext cx="571500" cy="28575"/>
            <a:chOff x="0" y="0"/>
            <a:chExt cx="762000" cy="381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240250" y="476250"/>
            <a:ext cx="571500" cy="28575"/>
            <a:chOff x="0" y="0"/>
            <a:chExt cx="762000" cy="38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76250" y="9810750"/>
            <a:ext cx="571500" cy="28575"/>
            <a:chOff x="0" y="0"/>
            <a:chExt cx="762000" cy="3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240250" y="9810750"/>
            <a:ext cx="571500" cy="28575"/>
            <a:chOff x="0" y="0"/>
            <a:chExt cx="762000" cy="381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2000" cy="38100"/>
            </a:xfrm>
            <a:custGeom>
              <a:avLst/>
              <a:gdLst/>
              <a:ahLst/>
              <a:cxnLst/>
              <a:rect r="r" b="b" t="t" l="l"/>
              <a:pathLst>
                <a:path h="381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6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429000" y="609600"/>
            <a:ext cx="1143000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FAFFFE"/>
                </a:solidFill>
                <a:latin typeface="Chewy"/>
                <a:ea typeface="Chewy"/>
                <a:cs typeface="Chewy"/>
                <a:sym typeface="Chewy"/>
              </a:rPr>
              <a:t>Conclusiones y Proyección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81500" y="1390650"/>
            <a:ext cx="9525000" cy="280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>
                <a:solidFill>
                  <a:srgbClr val="94D3C8"/>
                </a:solidFill>
                <a:latin typeface="Canva Sans"/>
                <a:ea typeface="Canva Sans"/>
                <a:cs typeface="Canva Sans"/>
                <a:sym typeface="Canva Sans"/>
              </a:rPr>
              <a:t>Síntesis del proyecto, impacto clínico y visión a futuro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762750" y="1828800"/>
            <a:ext cx="4762500" cy="0"/>
          </a:xfrm>
          <a:prstGeom prst="line">
            <a:avLst/>
          </a:prstGeom>
          <a:ln cap="flat" w="28575">
            <a:solidFill>
              <a:srgbClr val="4CAF5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0">
            <a:off x="3790950" y="2162175"/>
            <a:ext cx="419100" cy="419100"/>
            <a:chOff x="0" y="0"/>
            <a:chExt cx="558800" cy="558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58800" cy="558800"/>
            </a:xfrm>
            <a:custGeom>
              <a:avLst/>
              <a:gdLst/>
              <a:ahLst/>
              <a:cxnLst/>
              <a:rect r="r" b="b" t="t" l="l"/>
              <a:pathLst>
                <a:path h="558800" w="558800">
                  <a:moveTo>
                    <a:pt x="279400" y="0"/>
                  </a:moveTo>
                  <a:cubicBezTo>
                    <a:pt x="125092" y="0"/>
                    <a:pt x="0" y="125092"/>
                    <a:pt x="0" y="279400"/>
                  </a:cubicBezTo>
                  <a:cubicBezTo>
                    <a:pt x="0" y="433708"/>
                    <a:pt x="125092" y="558800"/>
                    <a:pt x="279400" y="558800"/>
                  </a:cubicBezTo>
                  <a:cubicBezTo>
                    <a:pt x="433708" y="558800"/>
                    <a:pt x="558800" y="433708"/>
                    <a:pt x="558800" y="279400"/>
                  </a:cubicBezTo>
                  <a:cubicBezTo>
                    <a:pt x="558800" y="125092"/>
                    <a:pt x="433708" y="0"/>
                    <a:pt x="2794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3790950" y="2114550"/>
            <a:ext cx="419100" cy="462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7"/>
              </a:lnSpc>
            </a:pPr>
            <a:r>
              <a:rPr lang="en-US" sz="2783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✓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19250" y="2724150"/>
            <a:ext cx="47625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Viabilidad e Ingeniería</a:t>
            </a:r>
          </a:p>
        </p:txBody>
      </p:sp>
      <p:sp>
        <p:nvSpPr>
          <p:cNvPr name="AutoShape 23" id="23"/>
          <p:cNvSpPr/>
          <p:nvPr/>
        </p:nvSpPr>
        <p:spPr>
          <a:xfrm>
            <a:off x="3619500" y="3057525"/>
            <a:ext cx="762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752600" y="3678555"/>
            <a:ext cx="76200" cy="76200"/>
            <a:chOff x="0" y="0"/>
            <a:chExt cx="101600" cy="101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924050" y="3573780"/>
            <a:ext cx="4400550" cy="794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PMV funcional y desacoplado entregado en 10 semanas mediante marco ágil Scrum y 47 Story Points de ingeniería activa.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714500" y="4871085"/>
            <a:ext cx="76200" cy="76200"/>
            <a:chOff x="0" y="0"/>
            <a:chExt cx="101600" cy="101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885950" y="4766310"/>
            <a:ext cx="4400550" cy="794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Cumplimiento de estándares de calidad: IEEE 830 para requisitos, OpenAPI/Swagger para contratos API y ORM relacional Django.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8934450" y="2162175"/>
            <a:ext cx="419100" cy="419100"/>
            <a:chOff x="0" y="0"/>
            <a:chExt cx="558800" cy="558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58800" cy="558800"/>
            </a:xfrm>
            <a:custGeom>
              <a:avLst/>
              <a:gdLst/>
              <a:ahLst/>
              <a:cxnLst/>
              <a:rect r="r" b="b" t="t" l="l"/>
              <a:pathLst>
                <a:path h="558800" w="558800">
                  <a:moveTo>
                    <a:pt x="279400" y="0"/>
                  </a:moveTo>
                  <a:cubicBezTo>
                    <a:pt x="125092" y="0"/>
                    <a:pt x="0" y="125092"/>
                    <a:pt x="0" y="279400"/>
                  </a:cubicBezTo>
                  <a:cubicBezTo>
                    <a:pt x="0" y="433708"/>
                    <a:pt x="125092" y="558800"/>
                    <a:pt x="279400" y="558800"/>
                  </a:cubicBezTo>
                  <a:cubicBezTo>
                    <a:pt x="433708" y="558800"/>
                    <a:pt x="558800" y="433708"/>
                    <a:pt x="558800" y="279400"/>
                  </a:cubicBezTo>
                  <a:cubicBezTo>
                    <a:pt x="558800" y="125092"/>
                    <a:pt x="433708" y="0"/>
                    <a:pt x="2794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8934450" y="2114550"/>
            <a:ext cx="419100" cy="456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7"/>
              </a:lnSpc>
            </a:pPr>
            <a:r>
              <a:rPr lang="en-US" sz="2648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♥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762750" y="2724150"/>
            <a:ext cx="47625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Impacto Clínico y Adherencia</a:t>
            </a:r>
          </a:p>
        </p:txBody>
      </p:sp>
      <p:sp>
        <p:nvSpPr>
          <p:cNvPr name="AutoShape 37" id="37"/>
          <p:cNvSpPr/>
          <p:nvPr/>
        </p:nvSpPr>
        <p:spPr>
          <a:xfrm>
            <a:off x="8763000" y="3057525"/>
            <a:ext cx="762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8" id="38"/>
          <p:cNvGrpSpPr/>
          <p:nvPr/>
        </p:nvGrpSpPr>
        <p:grpSpPr>
          <a:xfrm rot="0">
            <a:off x="6853238" y="3678555"/>
            <a:ext cx="76200" cy="76200"/>
            <a:chOff x="0" y="0"/>
            <a:chExt cx="101600" cy="101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7024688" y="3573780"/>
            <a:ext cx="4400550" cy="794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Reemplazo del papel por rutinas interactivas multimedia con cronómetro obligatorio de ejecución para cada ejercicio.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6853238" y="4871085"/>
            <a:ext cx="76200" cy="76200"/>
            <a:chOff x="0" y="0"/>
            <a:chExt cx="101600" cy="101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7024688" y="4766310"/>
            <a:ext cx="4400550" cy="794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Trazabilidad en tiempo real y alertas tempranas automáticas ante dolor severo (&gt;=7/10) para prevención de lesiones.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4077950" y="2162175"/>
            <a:ext cx="419100" cy="419100"/>
            <a:chOff x="0" y="0"/>
            <a:chExt cx="558800" cy="5588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58800" cy="558800"/>
            </a:xfrm>
            <a:custGeom>
              <a:avLst/>
              <a:gdLst/>
              <a:ahLst/>
              <a:cxnLst/>
              <a:rect r="r" b="b" t="t" l="l"/>
              <a:pathLst>
                <a:path h="558800" w="558800">
                  <a:moveTo>
                    <a:pt x="279400" y="0"/>
                  </a:moveTo>
                  <a:cubicBezTo>
                    <a:pt x="125092" y="0"/>
                    <a:pt x="0" y="125092"/>
                    <a:pt x="0" y="279400"/>
                  </a:cubicBezTo>
                  <a:cubicBezTo>
                    <a:pt x="0" y="433708"/>
                    <a:pt x="125092" y="558800"/>
                    <a:pt x="279400" y="558800"/>
                  </a:cubicBezTo>
                  <a:cubicBezTo>
                    <a:pt x="433708" y="558800"/>
                    <a:pt x="558800" y="433708"/>
                    <a:pt x="558800" y="279400"/>
                  </a:cubicBezTo>
                  <a:cubicBezTo>
                    <a:pt x="558800" y="125092"/>
                    <a:pt x="433708" y="0"/>
                    <a:pt x="2794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558800" cy="596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14077950" y="2114550"/>
            <a:ext cx="419100" cy="462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7"/>
              </a:lnSpc>
            </a:pPr>
            <a:r>
              <a:rPr lang="en-US" sz="2783">
                <a:solidFill>
                  <a:srgbClr val="FAFFFE"/>
                </a:solidFill>
                <a:latin typeface="Open Sans"/>
                <a:ea typeface="Open Sans"/>
                <a:cs typeface="Open Sans"/>
                <a:sym typeface="Open Sans"/>
              </a:rPr>
              <a:t>→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906250" y="2724150"/>
            <a:ext cx="476250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4CAF5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Roadmap / Trabajo Futuro</a:t>
            </a:r>
          </a:p>
        </p:txBody>
      </p:sp>
      <p:sp>
        <p:nvSpPr>
          <p:cNvPr name="AutoShape 51" id="51"/>
          <p:cNvSpPr/>
          <p:nvPr/>
        </p:nvSpPr>
        <p:spPr>
          <a:xfrm>
            <a:off x="13906500" y="3057525"/>
            <a:ext cx="762000" cy="0"/>
          </a:xfrm>
          <a:prstGeom prst="line">
            <a:avLst/>
          </a:prstGeom>
          <a:ln cap="flat" w="19050">
            <a:solidFill>
              <a:srgbClr val="94D3C8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2" id="52"/>
          <p:cNvGrpSpPr/>
          <p:nvPr/>
        </p:nvGrpSpPr>
        <p:grpSpPr>
          <a:xfrm rot="0">
            <a:off x="12006262" y="3678555"/>
            <a:ext cx="76200" cy="76200"/>
            <a:chOff x="0" y="0"/>
            <a:chExt cx="101600" cy="1016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12177712" y="3573780"/>
            <a:ext cx="4400550" cy="794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Integración de modelos de Visión Computacional e IA para análisis y corrección postural en tiempo real.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2006262" y="4554855"/>
            <a:ext cx="76200" cy="76200"/>
            <a:chOff x="0" y="0"/>
            <a:chExt cx="101600" cy="1016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2177712" y="4450080"/>
            <a:ext cx="440055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Módulo de teleconsulta y ajustes dinámicos de pautas a distancia entre kinesiólogo y paciente.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2006262" y="5173980"/>
            <a:ext cx="76200" cy="76200"/>
            <a:chOff x="0" y="0"/>
            <a:chExt cx="101600" cy="10160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1600" cy="101600"/>
            </a:xfrm>
            <a:custGeom>
              <a:avLst/>
              <a:gdLst/>
              <a:ahLst/>
              <a:cxnLst/>
              <a:rect r="r" b="b" t="t" l="l"/>
              <a:pathLst>
                <a:path h="101600" w="101600">
                  <a:moveTo>
                    <a:pt x="50800" y="0"/>
                  </a:moveTo>
                  <a:cubicBezTo>
                    <a:pt x="22744" y="0"/>
                    <a:pt x="0" y="22744"/>
                    <a:pt x="0" y="50800"/>
                  </a:cubicBez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lose/>
                </a:path>
              </a:pathLst>
            </a:custGeom>
            <a:solidFill>
              <a:srgbClr val="4CAF50"/>
            </a:solid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101600" cy="13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2177712" y="5069205"/>
            <a:ext cx="4400550" cy="527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400">
                <a:solidFill>
                  <a:srgbClr val="FAFFFE">
                    <a:alpha val="84706"/>
                  </a:srgbClr>
                </a:solidFill>
                <a:latin typeface="Canva Sans"/>
                <a:ea typeface="Canva Sans"/>
                <a:cs typeface="Canva Sans"/>
                <a:sym typeface="Canva Sans"/>
              </a:rPr>
              <a:t>Analítica predictiva para la prevención del abandono terapéutico basada en patrones de uso.</a:t>
            </a:r>
          </a:p>
        </p:txBody>
      </p:sp>
      <p:sp>
        <p:nvSpPr>
          <p:cNvPr name="AutoShape 64" id="64"/>
          <p:cNvSpPr/>
          <p:nvPr/>
        </p:nvSpPr>
        <p:spPr>
          <a:xfrm>
            <a:off x="6572250" y="2162175"/>
            <a:ext cx="0" cy="6410325"/>
          </a:xfrm>
          <a:prstGeom prst="line">
            <a:avLst/>
          </a:prstGeom>
          <a:ln cap="flat" w="9525">
            <a:solidFill>
              <a:srgbClr val="4CAF50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5" id="65"/>
          <p:cNvSpPr/>
          <p:nvPr/>
        </p:nvSpPr>
        <p:spPr>
          <a:xfrm>
            <a:off x="11715750" y="2162175"/>
            <a:ext cx="0" cy="6410325"/>
          </a:xfrm>
          <a:prstGeom prst="line">
            <a:avLst/>
          </a:prstGeom>
          <a:ln cap="flat" w="9525">
            <a:solidFill>
              <a:srgbClr val="4CAF50">
                <a:alpha val="19608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6" id="66"/>
          <p:cNvSpPr/>
          <p:nvPr/>
        </p:nvSpPr>
        <p:spPr>
          <a:xfrm>
            <a:off x="1905000" y="8953500"/>
            <a:ext cx="14478000" cy="0"/>
          </a:xfrm>
          <a:prstGeom prst="line">
            <a:avLst/>
          </a:prstGeom>
          <a:ln cap="flat" w="9525">
            <a:solidFill>
              <a:srgbClr val="4CAF50">
                <a:alpha val="29804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DAHThRX2voM</dc:identifier>
  <dcterms:modified xsi:type="dcterms:W3CDTF">2011-08-01T06:04:30Z</dcterms:modified>
  <cp:revision>1</cp:revision>
  <dc:title>kineconnect</dc:title>
</cp:coreProperties>
</file>